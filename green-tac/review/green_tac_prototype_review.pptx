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4ABBC7-6E8E-4705-8876-7CE774505BBF}" type="datetimeFigureOut">
              <a:rPr lang="en-IN" smtClean="0"/>
              <a:t>15-10-2026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57EB02-7C50-41FC-A7DE-16CA4E9D5944}" type="slidenum">
              <a:rPr lang="en-IN" smtClean="0"/>
              <a:t>‹#›</a:t>
            </a:fld>
            <a:endParaRPr lang="en-IN"/>
          </a:p>
        </p:txBody>
      </p:sp>
    </p:spTree>
    <p:extLst>
      <p:ext uri="{BB962C8B-B14F-4D97-AF65-F5344CB8AC3E}">
        <p14:creationId xmlns:p14="http://schemas.microsoft.com/office/powerpoint/2010/main" val="3223430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project as a working research prototype. The 75 percent wording names the review milestone, not an independently measured completion score. No measured carbon-saving claim is made.</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1</a:t>
            </a:fld>
            <a:endParaRPr lang="en-IN"/>
          </a:p>
        </p:txBody>
      </p:sp>
    </p:spTree>
    <p:extLst>
      <p:ext uri="{BB962C8B-B14F-4D97-AF65-F5344CB8AC3E}">
        <p14:creationId xmlns:p14="http://schemas.microsoft.com/office/powerpoint/2010/main" val="9689608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the compiler needs the expected execution count and the carbon context for both phases. The main research question is whether adaptive choices can outperform fixed strategies on measured total carbon.</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2</a:t>
            </a:fld>
            <a:endParaRPr lang="en-IN"/>
          </a:p>
        </p:txBody>
      </p:sp>
    </p:spTree>
    <p:extLst>
      <p:ext uri="{BB962C8B-B14F-4D97-AF65-F5344CB8AC3E}">
        <p14:creationId xmlns:p14="http://schemas.microsoft.com/office/powerpoint/2010/main" val="21378969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compiler uses C++17. Python handles build, collection, model fitting and reporting. This is a restricted integer language, not a complete C compiler. The selector currently executes every candidate optimizer, so its overhead remains part of the remaining measurement work.</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3</a:t>
            </a:fld>
            <a:endParaRPr lang="en-IN"/>
          </a:p>
        </p:txBody>
      </p:sp>
    </p:spTree>
    <p:extLst>
      <p:ext uri="{BB962C8B-B14F-4D97-AF65-F5344CB8AC3E}">
        <p14:creationId xmlns:p14="http://schemas.microsoft.com/office/powerpoint/2010/main" val="912015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Lightweight folds constants and simplifies expressions. DAG eliminates repeated expressions locally. The instruction count remains 21 for lightweight because assignments remain even when arithmetic is simplified. Source: compiler compare output for benchmarks/cse.c.</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4</a:t>
            </a:fld>
            <a:endParaRPr lang="en-IN"/>
          </a:p>
        </p:txBody>
      </p:sp>
    </p:spTree>
    <p:extLst>
      <p:ext uri="{BB962C8B-B14F-4D97-AF65-F5344CB8AC3E}">
        <p14:creationId xmlns:p14="http://schemas.microsoft.com/office/powerpoint/2010/main" val="19349446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the denominator as 3.6 million. Expected executions N scales runtime cost. The proposed contribution is the combined decision framework, not a claim that constant folding or CSE is new. Current energy values are proxies. Source: src/carbon.cpp and src/selector.cpp.</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5</a:t>
            </a:fld>
            <a:endParaRPr lang="en-IN"/>
          </a:p>
        </p:txBody>
      </p:sp>
    </p:spTree>
    <p:extLst>
      <p:ext uri="{BB962C8B-B14F-4D97-AF65-F5344CB8AC3E}">
        <p14:creationId xmlns:p14="http://schemas.microsoft.com/office/powerpoint/2010/main" val="35111323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Six programs per category plus one example. Batches target at least 30 milliseconds subject to a 100 million invocation cap. The timed region includes function call, loop and volatile sink overhead. These are within-process repeats, not independent process trials. Source: data/runtime_study/metadata.json and samples.csv.</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6</a:t>
            </a:fld>
            <a:endParaRPr lang="en-IN"/>
          </a:p>
        </p:txBody>
      </p:sp>
    </p:spTree>
    <p:extLst>
      <p:ext uri="{BB962C8B-B14F-4D97-AF65-F5344CB8AC3E}">
        <p14:creationId xmlns:p14="http://schemas.microsoft.com/office/powerpoint/2010/main" val="406712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Values are displayed in nanoseconds for readability; data and the C++ model use milliseconds. Strongly negative R squared indicates poor held-out performance. The small test set has little variation. Features omit loop bounds and dynamic execution counts. Do not describe this as an accurate or production-ready model. Sources: data/model_metrics.csv, model_predictions.csv and model_validation.json.</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7</a:t>
            </a:fld>
            <a:endParaRPr lang="en-IN"/>
          </a:p>
        </p:txBody>
      </p:sp>
    </p:spTree>
    <p:extLst>
      <p:ext uri="{BB962C8B-B14F-4D97-AF65-F5344CB8AC3E}">
        <p14:creationId xmlns:p14="http://schemas.microsoft.com/office/powerpoint/2010/main" val="4577106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actual selector chose baseline at one execution, lightweight at three and DAG at ten. All candidates passed the predicted runtime constraint in these examples. The example is in the training dataset, so this is mechanism evidence rather than held-out policy evidence. Source: data/results/adaptive/scenarios.json.</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8</a:t>
            </a:fld>
            <a:endParaRPr lang="en-IN"/>
          </a:p>
        </p:txBody>
      </p:sp>
    </p:spTree>
    <p:extLst>
      <p:ext uri="{BB962C8B-B14F-4D97-AF65-F5344CB8AC3E}">
        <p14:creationId xmlns:p14="http://schemas.microsoft.com/office/powerpoint/2010/main" val="24416133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Compare the first and second rows to isolate compile intensity, then the first and third rows to isolate runtime intensity. Changing both phases to 200/700 selects DAG. Scaling a shared intensity cannot change rankings. Source: data/results/adaptive/scenarios.json.</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9</a:t>
            </a:fld>
            <a:endParaRPr lang="en-IN"/>
          </a:p>
        </p:txBody>
      </p:sp>
    </p:spTree>
    <p:extLst>
      <p:ext uri="{BB962C8B-B14F-4D97-AF65-F5344CB8AC3E}">
        <p14:creationId xmlns:p14="http://schemas.microsoft.com/office/powerpoint/2010/main" val="1173727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Map these items to the provided rubric without predicting marks. Fitting is implemented, while predictive accuracy is not satisfactory. Physical energy and measured policy comparisons remain outstanding. Tests include feature export, sample medians, split separation and C++ coefficient parity.</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10</a:t>
            </a:fld>
            <a:endParaRPr lang="en-IN"/>
          </a:p>
        </p:txBody>
      </p:sp>
    </p:spTree>
    <p:extLst>
      <p:ext uri="{BB962C8B-B14F-4D97-AF65-F5344CB8AC3E}">
        <p14:creationId xmlns:p14="http://schemas.microsoft.com/office/powerpoint/2010/main" val="797846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generated benchmark returns zero rather than exposing final variable values. Current correctness tests are limited. The selector optimizes all candidates, so account for that work before claiming compilation-energy savings. Real carbon data and robust energy counter handling are still pending.</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11</a:t>
            </a:fld>
            <a:endParaRPr lang="en-IN"/>
          </a:p>
        </p:txBody>
      </p:sp>
    </p:spTree>
    <p:extLst>
      <p:ext uri="{BB962C8B-B14F-4D97-AF65-F5344CB8AC3E}">
        <p14:creationId xmlns:p14="http://schemas.microsoft.com/office/powerpoint/2010/main" val="2793666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command uses a PowerShell backtick for line continuation. Expected selection is lightweight. Runtime is measured, energy is proxy. The runtime model failed its first accuracy evaluation. The report contains expanded Q and A.</a:t>
            </a:r>
            <a:endParaRPr lang="en-IN"/>
          </a:p>
        </p:txBody>
      </p:sp>
      <p:sp>
        <p:nvSpPr>
          <p:cNvPr id="4" name="Slide Number Placeholder 3"/>
          <p:cNvSpPr>
            <a:spLocks noGrp="1"/>
          </p:cNvSpPr>
          <p:nvPr>
            <p:ph type="sldNum" sz="quarter" idx="5"/>
          </p:nvPr>
        </p:nvSpPr>
        <p:spPr/>
        <p:txBody>
          <a:bodyPr/>
          <a:lstStyle/>
          <a:p>
            <a:fld id="{1657EB02-7C50-41FC-A7DE-16CA4E9D5944}" type="slidenum">
              <a:rPr lang="en-IN" smtClean="0"/>
              <a:t>12</a:t>
            </a:fld>
            <a:endParaRPr lang="en-IN"/>
          </a:p>
        </p:txBody>
      </p:sp>
    </p:spTree>
    <p:extLst>
      <p:ext uri="{BB962C8B-B14F-4D97-AF65-F5344CB8AC3E}">
        <p14:creationId xmlns:p14="http://schemas.microsoft.com/office/powerpoint/2010/main" val="34738187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B957B-136E-0FE8-C069-EC50D4C94A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2FEE7CC-C057-681A-37EF-F643D8A28B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E9C29F5-6766-0241-CAFE-C6AC8A53B481}"/>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5" name="Footer Placeholder 4">
            <a:extLst>
              <a:ext uri="{FF2B5EF4-FFF2-40B4-BE49-F238E27FC236}">
                <a16:creationId xmlns:a16="http://schemas.microsoft.com/office/drawing/2014/main" id="{435F89CC-DC59-1E21-2181-B5D99AF9BA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6BD86E-206E-3BB0-F09E-D3AD3EFDD3F3}"/>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341534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AB65C-EE2B-FD0C-1203-1CCA7F9A95D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CF314E-E891-A052-F68D-0C24BDAE84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2244742-0FA7-A1DC-4AC4-7169B49DE35A}"/>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5" name="Footer Placeholder 4">
            <a:extLst>
              <a:ext uri="{FF2B5EF4-FFF2-40B4-BE49-F238E27FC236}">
                <a16:creationId xmlns:a16="http://schemas.microsoft.com/office/drawing/2014/main" id="{3E4287A3-189C-BA73-047C-2FC4EE357F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084F41-80BB-27C9-ED1E-51EB2F486BE2}"/>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3372540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B0D51-A610-586B-64B4-45ED820E02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C513EF-0FFF-6171-8B8C-04AC3A7CAA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D4E372-CA3B-A05E-EE89-8AD643D80880}"/>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5" name="Footer Placeholder 4">
            <a:extLst>
              <a:ext uri="{FF2B5EF4-FFF2-40B4-BE49-F238E27FC236}">
                <a16:creationId xmlns:a16="http://schemas.microsoft.com/office/drawing/2014/main" id="{1C67D031-3254-61FC-163A-5D5826CAE2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7B52C-2B2D-C235-FA12-BBC9C028CE4F}"/>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357656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C6900-6061-96E9-CE02-D4A5AFB823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EA4D30-36CD-516F-044D-5B5A9B6506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835ECD7-4C9A-7B21-E470-0E3CB04696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65036E1-A9C2-1F5F-047E-1F0C14EBE625}"/>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6" name="Footer Placeholder 5">
            <a:extLst>
              <a:ext uri="{FF2B5EF4-FFF2-40B4-BE49-F238E27FC236}">
                <a16:creationId xmlns:a16="http://schemas.microsoft.com/office/drawing/2014/main" id="{43483D3D-ED6F-B921-82B0-647CBDFC64F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427F0E7-4433-A561-F6C5-816E9301298A}"/>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781865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F636B-0997-7004-DFDB-DA1628B6767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76FAD4-5A89-2EB8-939E-EF8FCEFEB7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9E9198-0FC4-4940-0CE7-68CFB7AE1FB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D84AADA-F7FB-0CA1-5EA0-35DE403EF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2624B-03C5-F064-00EE-345A74B452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BA87728-5083-3208-6159-7E55D8D3C28E}"/>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8" name="Footer Placeholder 7">
            <a:extLst>
              <a:ext uri="{FF2B5EF4-FFF2-40B4-BE49-F238E27FC236}">
                <a16:creationId xmlns:a16="http://schemas.microsoft.com/office/drawing/2014/main" id="{04F76F78-D923-B533-E80F-E7407DE92AB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3EA6A78-9DB0-66CC-EB06-5F2A64BF6E05}"/>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260473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4CA97-3835-1872-DA66-8B9BBACD353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D4764C-39C9-7809-C1F6-777B66FFB05D}"/>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4" name="Footer Placeholder 3">
            <a:extLst>
              <a:ext uri="{FF2B5EF4-FFF2-40B4-BE49-F238E27FC236}">
                <a16:creationId xmlns:a16="http://schemas.microsoft.com/office/drawing/2014/main" id="{DEE96F7B-7AE3-06D5-B419-9DBEB6FB56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C23F2F-C853-4AF2-63E9-AEE36FCF9151}"/>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126171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BA008D-5B56-44C6-59A7-01C01D8DF9D6}"/>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3" name="Footer Placeholder 2">
            <a:extLst>
              <a:ext uri="{FF2B5EF4-FFF2-40B4-BE49-F238E27FC236}">
                <a16:creationId xmlns:a16="http://schemas.microsoft.com/office/drawing/2014/main" id="{7E1F328A-212C-6FB5-34EA-7DBD33CB30D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FF8C706-091D-2C2B-B73A-EE59F72DE044}"/>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4139257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21172-327A-1CE0-B6AE-CD95206FA9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BD7709D-487F-B8F8-25B4-8F0CEF3DA0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3CEFCEC-2177-0361-2CFD-C98DF8F8A0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F61123-0AF0-A64F-31F4-1CC0CE21E643}"/>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6" name="Footer Placeholder 5">
            <a:extLst>
              <a:ext uri="{FF2B5EF4-FFF2-40B4-BE49-F238E27FC236}">
                <a16:creationId xmlns:a16="http://schemas.microsoft.com/office/drawing/2014/main" id="{8C0EFBC1-1730-980B-6B89-DB81A03F28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C2C1CC-E34D-E6ED-41FC-2C847E652A90}"/>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3833605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90797-B815-0742-7DB8-9F23AA8638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EB611D-6FC2-19FA-DE54-AF5B362DFAD5}"/>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3CF720C-7CEA-313A-B982-69121EB4C7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832A43-2466-4BCC-C294-3AAF83A3BC02}"/>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6" name="Footer Placeholder 5">
            <a:extLst>
              <a:ext uri="{FF2B5EF4-FFF2-40B4-BE49-F238E27FC236}">
                <a16:creationId xmlns:a16="http://schemas.microsoft.com/office/drawing/2014/main" id="{F0EE62A9-3AEE-8816-4652-472D26AD2F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FDAA34-C7FD-229F-1CBB-4AD880DBB447}"/>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536817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DCD66-F796-63C2-9419-D7C04F2487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A09545-9E0C-7CD4-0B67-D5A0AD730F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E7864C-2DB1-73CE-6C3E-E9C748FCFC27}"/>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5" name="Footer Placeholder 4">
            <a:extLst>
              <a:ext uri="{FF2B5EF4-FFF2-40B4-BE49-F238E27FC236}">
                <a16:creationId xmlns:a16="http://schemas.microsoft.com/office/drawing/2014/main" id="{B02A02A2-8F52-1C84-5657-E7BCEE2A9B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D1206D-326E-4AE8-F1DF-1996ECDAFEED}"/>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4286324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00B58A-E7A7-1F23-506A-78D9C53A12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9F0FFA-A5F4-496A-D4D2-5D25CBE92E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497926-0BFE-8D62-6433-5CE9C562B70D}"/>
              </a:ext>
            </a:extLst>
          </p:cNvPr>
          <p:cNvSpPr>
            <a:spLocks noGrp="1"/>
          </p:cNvSpPr>
          <p:nvPr>
            <p:ph type="dt" sz="half" idx="10"/>
          </p:nvPr>
        </p:nvSpPr>
        <p:spPr/>
        <p:txBody>
          <a:bodyPr/>
          <a:lstStyle/>
          <a:p>
            <a:fld id="{C3A023FE-5109-49B2-81AE-0FEA8A84AC40}" type="datetimeFigureOut">
              <a:rPr lang="en-IN" smtClean="0"/>
              <a:t>15-10-2026</a:t>
            </a:fld>
            <a:endParaRPr lang="en-IN"/>
          </a:p>
        </p:txBody>
      </p:sp>
      <p:sp>
        <p:nvSpPr>
          <p:cNvPr id="5" name="Footer Placeholder 4">
            <a:extLst>
              <a:ext uri="{FF2B5EF4-FFF2-40B4-BE49-F238E27FC236}">
                <a16:creationId xmlns:a16="http://schemas.microsoft.com/office/drawing/2014/main" id="{CD5120E6-1B4F-1686-277D-3EC9B6A6EC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6DF3E6-728C-233F-BE2D-963A42F887A8}"/>
              </a:ext>
            </a:extLst>
          </p:cNvPr>
          <p:cNvSpPr>
            <a:spLocks noGrp="1"/>
          </p:cNvSpPr>
          <p:nvPr>
            <p:ph type="sldNum" sz="quarter" idx="12"/>
          </p:nvPr>
        </p:nvSpPr>
        <p:spPr/>
        <p:txBody>
          <a:bodyPr/>
          <a:lstStyle/>
          <a:p>
            <a:fld id="{C2C4C0A4-94BC-46FC-9057-EE271399CA38}" type="slidenum">
              <a:rPr lang="en-IN" smtClean="0"/>
              <a:t>‹#›</a:t>
            </a:fld>
            <a:endParaRPr lang="en-IN"/>
          </a:p>
        </p:txBody>
      </p:sp>
    </p:spTree>
    <p:extLst>
      <p:ext uri="{BB962C8B-B14F-4D97-AF65-F5344CB8AC3E}">
        <p14:creationId xmlns:p14="http://schemas.microsoft.com/office/powerpoint/2010/main" val="3022698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AD8B00-A427-2D5A-351A-15B391A8C1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A7233AF-C0F9-BC1A-E7D8-AA3246FC66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9A3DAC7-6E4D-E91F-D9AD-95488F32D7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A023FE-5109-49B2-81AE-0FEA8A84AC40}" type="datetimeFigureOut">
              <a:rPr lang="en-IN" smtClean="0"/>
              <a:t>15-10-2026</a:t>
            </a:fld>
            <a:endParaRPr lang="en-IN"/>
          </a:p>
        </p:txBody>
      </p:sp>
      <p:sp>
        <p:nvSpPr>
          <p:cNvPr id="5" name="Footer Placeholder 4">
            <a:extLst>
              <a:ext uri="{FF2B5EF4-FFF2-40B4-BE49-F238E27FC236}">
                <a16:creationId xmlns:a16="http://schemas.microsoft.com/office/drawing/2014/main" id="{B3E0DB7B-F1AE-8861-6D20-49D06811C4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2F21EA7-03C2-75BB-842B-E23B9CB5AF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C4C0A4-94BC-46FC-9057-EE271399CA38}" type="slidenum">
              <a:rPr lang="en-IN" smtClean="0"/>
              <a:t>‹#›</a:t>
            </a:fld>
            <a:endParaRPr lang="en-IN"/>
          </a:p>
        </p:txBody>
      </p:sp>
    </p:spTree>
    <p:extLst>
      <p:ext uri="{BB962C8B-B14F-4D97-AF65-F5344CB8AC3E}">
        <p14:creationId xmlns:p14="http://schemas.microsoft.com/office/powerpoint/2010/main" val="20793507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3E2B"/>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8E545F79-8FAD-7193-1E44-B4242C107074}"/>
              </a:ext>
            </a:extLst>
          </p:cNvPr>
          <p:cNvSpPr txBox="1"/>
          <p:nvPr/>
        </p:nvSpPr>
        <p:spPr>
          <a:xfrm>
            <a:off x="723900" y="685799"/>
            <a:ext cx="10744200" cy="939800"/>
          </a:xfrm>
          <a:prstGeom prst="rect">
            <a:avLst/>
          </a:prstGeom>
          <a:noFill/>
        </p:spPr>
        <p:txBody>
          <a:bodyPr vert="horz" wrap="square" lIns="0" tIns="0" rIns="0" bIns="0" rtlCol="0">
            <a:noAutofit/>
          </a:bodyPr>
          <a:lstStyle/>
          <a:p>
            <a:pPr>
              <a:lnSpc>
                <a:spcPts val="7245"/>
              </a:lnSpc>
            </a:pPr>
            <a:r>
              <a:rPr lang="en-IN" sz="6300" b="1">
                <a:solidFill>
                  <a:srgbClr val="F6F8EF"/>
                </a:solidFill>
                <a:latin typeface="&quot;Segoe UI&quot;"/>
              </a:rPr>
              <a:t>Green TAC</a:t>
            </a:r>
          </a:p>
        </p:txBody>
      </p:sp>
      <p:sp>
        <p:nvSpPr>
          <p:cNvPr id="3" name="Text 2">
            <a:extLst>
              <a:ext uri="{FF2B5EF4-FFF2-40B4-BE49-F238E27FC236}">
                <a16:creationId xmlns:a16="http://schemas.microsoft.com/office/drawing/2014/main" id="{A3C99A06-4C6C-85D4-9F18-9A6B3FC7EA56}"/>
              </a:ext>
            </a:extLst>
          </p:cNvPr>
          <p:cNvSpPr txBox="1"/>
          <p:nvPr/>
        </p:nvSpPr>
        <p:spPr>
          <a:xfrm>
            <a:off x="723900" y="1834454"/>
            <a:ext cx="7620000" cy="438150"/>
          </a:xfrm>
          <a:prstGeom prst="rect">
            <a:avLst/>
          </a:prstGeom>
          <a:noFill/>
        </p:spPr>
        <p:txBody>
          <a:bodyPr vert="horz" wrap="square" lIns="0" tIns="0" rIns="0" bIns="0" rtlCol="0">
            <a:noAutofit/>
          </a:bodyPr>
          <a:lstStyle/>
          <a:p>
            <a:pPr>
              <a:lnSpc>
                <a:spcPts val="3060"/>
              </a:lnSpc>
            </a:pPr>
            <a:r>
              <a:rPr lang="en-IN" sz="2550">
                <a:solidFill>
                  <a:srgbClr val="F6F8EF"/>
                </a:solidFill>
                <a:latin typeface="&quot;Segoe UI&quot;"/>
              </a:rPr>
              <a:t>Carbon-aware adaptive TAC optimization</a:t>
            </a:r>
          </a:p>
        </p:txBody>
      </p:sp>
      <p:sp>
        <p:nvSpPr>
          <p:cNvPr id="4" name="Text 3">
            <a:extLst>
              <a:ext uri="{FF2B5EF4-FFF2-40B4-BE49-F238E27FC236}">
                <a16:creationId xmlns:a16="http://schemas.microsoft.com/office/drawing/2014/main" id="{FCFCF1AA-05C5-4D15-7B8A-2E472BE217BC}"/>
              </a:ext>
            </a:extLst>
          </p:cNvPr>
          <p:cNvSpPr txBox="1"/>
          <p:nvPr/>
        </p:nvSpPr>
        <p:spPr>
          <a:xfrm>
            <a:off x="723900" y="2882205"/>
            <a:ext cx="10744200" cy="333375"/>
          </a:xfrm>
          <a:prstGeom prst="rect">
            <a:avLst/>
          </a:prstGeom>
          <a:noFill/>
        </p:spPr>
        <p:txBody>
          <a:bodyPr vert="horz" wrap="square" lIns="0" tIns="0" rIns="0" bIns="0" rtlCol="0">
            <a:noAutofit/>
          </a:bodyPr>
          <a:lstStyle/>
          <a:p>
            <a:pPr>
              <a:lnSpc>
                <a:spcPts val="2340"/>
              </a:lnSpc>
            </a:pPr>
            <a:r>
              <a:rPr lang="en-IN" sz="1950">
                <a:solidFill>
                  <a:srgbClr val="F6F8EF"/>
                </a:solidFill>
                <a:latin typeface="&quot;Segoe UI&quot;"/>
              </a:rPr>
              <a:t>75 percent prototype review</a:t>
            </a:r>
          </a:p>
        </p:txBody>
      </p:sp>
      <p:sp>
        <p:nvSpPr>
          <p:cNvPr id="5" name="Text 4">
            <a:extLst>
              <a:ext uri="{FF2B5EF4-FFF2-40B4-BE49-F238E27FC236}">
                <a16:creationId xmlns:a16="http://schemas.microsoft.com/office/drawing/2014/main" id="{341BAE3E-45C3-0E47-8CD2-DA063A8B54A2}"/>
              </a:ext>
            </a:extLst>
          </p:cNvPr>
          <p:cNvSpPr txBox="1"/>
          <p:nvPr/>
        </p:nvSpPr>
        <p:spPr>
          <a:xfrm>
            <a:off x="723900" y="3444179"/>
            <a:ext cx="10744200" cy="285750"/>
          </a:xfrm>
          <a:prstGeom prst="rect">
            <a:avLst/>
          </a:prstGeom>
          <a:noFill/>
        </p:spPr>
        <p:txBody>
          <a:bodyPr vert="horz" wrap="square" lIns="0" tIns="0" rIns="0" bIns="0" rtlCol="0">
            <a:noAutofit/>
          </a:bodyPr>
          <a:lstStyle/>
          <a:p>
            <a:pPr>
              <a:lnSpc>
                <a:spcPts val="1980"/>
              </a:lnSpc>
            </a:pPr>
            <a:r>
              <a:rPr lang="en-IN" sz="1650">
                <a:solidFill>
                  <a:srgbClr val="C4D7C4"/>
                </a:solidFill>
                <a:latin typeface="&quot;Segoe UI&quot;"/>
              </a:rPr>
              <a:t>15 October 2026</a:t>
            </a:r>
          </a:p>
        </p:txBody>
      </p:sp>
      <p:sp>
        <p:nvSpPr>
          <p:cNvPr id="6" name="Text 5">
            <a:extLst>
              <a:ext uri="{FF2B5EF4-FFF2-40B4-BE49-F238E27FC236}">
                <a16:creationId xmlns:a16="http://schemas.microsoft.com/office/drawing/2014/main" id="{0E2B5068-FC05-3768-8F62-1AE021210A24}"/>
              </a:ext>
            </a:extLst>
          </p:cNvPr>
          <p:cNvSpPr txBox="1"/>
          <p:nvPr/>
        </p:nvSpPr>
        <p:spPr>
          <a:xfrm>
            <a:off x="723900" y="4320480"/>
            <a:ext cx="10744200" cy="661099"/>
          </a:xfrm>
          <a:prstGeom prst="rect">
            <a:avLst/>
          </a:prstGeom>
          <a:noFill/>
        </p:spPr>
        <p:txBody>
          <a:bodyPr vert="horz" wrap="square" lIns="0" tIns="0" rIns="0" bIns="0" rtlCol="0">
            <a:noAutofit/>
          </a:bodyPr>
          <a:lstStyle/>
          <a:p>
            <a:pPr>
              <a:lnSpc>
                <a:spcPts val="2588"/>
              </a:lnSpc>
            </a:pPr>
            <a:r>
              <a:rPr lang="en-US" sz="1725">
                <a:solidFill>
                  <a:srgbClr val="DCE9D9"/>
                </a:solidFill>
                <a:latin typeface="&quot;Segoe UI&quot;"/>
              </a:rPr>
              <a:t>Working pipeline and decision demonstrations
Runtime accuracy and physical energy remain open</a:t>
            </a:r>
            <a:endParaRPr lang="en-IN" sz="1725">
              <a:solidFill>
                <a:srgbClr val="DCE9D9"/>
              </a:solidFill>
              <a:latin typeface="&quot;Segoe UI&quot;"/>
            </a:endParaRPr>
          </a:p>
        </p:txBody>
      </p:sp>
      <p:sp>
        <p:nvSpPr>
          <p:cNvPr id="7" name="Text 6">
            <a:extLst>
              <a:ext uri="{FF2B5EF4-FFF2-40B4-BE49-F238E27FC236}">
                <a16:creationId xmlns:a16="http://schemas.microsoft.com/office/drawing/2014/main" id="{E77F85A4-2FEF-0158-2B5F-DE624B4D0A48}"/>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C4D7C4"/>
                </a:solidFill>
                <a:latin typeface="&quot;Segoe UI&quot;"/>
              </a:rPr>
              <a:t>01 / 12</a:t>
            </a:r>
          </a:p>
        </p:txBody>
      </p:sp>
    </p:spTree>
    <p:extLst>
      <p:ext uri="{BB962C8B-B14F-4D97-AF65-F5344CB8AC3E}">
        <p14:creationId xmlns:p14="http://schemas.microsoft.com/office/powerpoint/2010/main" val="12079987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C1FE26B6-CD9C-0912-3AEF-EEF1D54FA224}"/>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IN" sz="3225" b="1">
                <a:solidFill>
                  <a:srgbClr val="20352B"/>
                </a:solidFill>
                <a:latin typeface="&quot;Segoe UI&quot;"/>
              </a:rPr>
              <a:t>Problem and objectives</a:t>
            </a:r>
          </a:p>
        </p:txBody>
      </p:sp>
      <p:sp>
        <p:nvSpPr>
          <p:cNvPr id="3" name="Text 2">
            <a:extLst>
              <a:ext uri="{FF2B5EF4-FFF2-40B4-BE49-F238E27FC236}">
                <a16:creationId xmlns:a16="http://schemas.microsoft.com/office/drawing/2014/main" id="{474B0BE8-F594-B11D-6CB4-6E577CEC4394}"/>
              </a:ext>
            </a:extLst>
          </p:cNvPr>
          <p:cNvSpPr txBox="1"/>
          <p:nvPr/>
        </p:nvSpPr>
        <p:spPr>
          <a:xfrm>
            <a:off x="723900" y="1423392"/>
            <a:ext cx="10744200" cy="398653"/>
          </a:xfrm>
          <a:prstGeom prst="rect">
            <a:avLst/>
          </a:prstGeom>
          <a:noFill/>
        </p:spPr>
        <p:txBody>
          <a:bodyPr vert="horz" wrap="square" lIns="0" tIns="0" rIns="0" bIns="0" rtlCol="0">
            <a:noAutofit/>
          </a:bodyPr>
          <a:lstStyle/>
          <a:p>
            <a:pPr>
              <a:lnSpc>
                <a:spcPts val="3139"/>
              </a:lnSpc>
            </a:pPr>
            <a:r>
              <a:rPr lang="en-US" sz="2325">
                <a:solidFill>
                  <a:srgbClr val="20352B"/>
                </a:solidFill>
                <a:latin typeface="&quot;Segoe UI&quot;"/>
              </a:rPr>
              <a:t>Extra compilation work can pay off when a program runs often.</a:t>
            </a:r>
            <a:endParaRPr lang="en-IN" sz="2325">
              <a:solidFill>
                <a:srgbClr val="20352B"/>
              </a:solidFill>
              <a:latin typeface="&quot;Segoe UI&quot;"/>
            </a:endParaRPr>
          </a:p>
        </p:txBody>
      </p:sp>
      <p:sp>
        <p:nvSpPr>
          <p:cNvPr id="4" name="Text 3">
            <a:extLst>
              <a:ext uri="{FF2B5EF4-FFF2-40B4-BE49-F238E27FC236}">
                <a16:creationId xmlns:a16="http://schemas.microsoft.com/office/drawing/2014/main" id="{14D39946-A261-C63C-9FDB-782312B25838}"/>
              </a:ext>
            </a:extLst>
          </p:cNvPr>
          <p:cNvSpPr txBox="1"/>
          <p:nvPr/>
        </p:nvSpPr>
        <p:spPr>
          <a:xfrm>
            <a:off x="762000" y="2050554"/>
            <a:ext cx="10706100" cy="386655"/>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1. Generate TAC from a small C-like language.</a:t>
            </a:r>
            <a:endParaRPr lang="en-IN" sz="2100">
              <a:solidFill>
                <a:srgbClr val="20352B"/>
              </a:solidFill>
              <a:latin typeface="&quot;Segoe UI&quot;"/>
            </a:endParaRPr>
          </a:p>
        </p:txBody>
      </p:sp>
      <p:sp>
        <p:nvSpPr>
          <p:cNvPr id="5" name="Text 4">
            <a:extLst>
              <a:ext uri="{FF2B5EF4-FFF2-40B4-BE49-F238E27FC236}">
                <a16:creationId xmlns:a16="http://schemas.microsoft.com/office/drawing/2014/main" id="{23EE7661-FF98-68C5-16BB-FD372824F082}"/>
              </a:ext>
            </a:extLst>
          </p:cNvPr>
          <p:cNvSpPr txBox="1"/>
          <p:nvPr/>
        </p:nvSpPr>
        <p:spPr>
          <a:xfrm>
            <a:off x="762000" y="2627709"/>
            <a:ext cx="10706100" cy="386655"/>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2. Compare three optimization strategies.</a:t>
            </a:r>
            <a:endParaRPr lang="en-IN" sz="2100">
              <a:solidFill>
                <a:srgbClr val="20352B"/>
              </a:solidFill>
              <a:latin typeface="&quot;Segoe UI&quot;"/>
            </a:endParaRPr>
          </a:p>
        </p:txBody>
      </p:sp>
      <p:sp>
        <p:nvSpPr>
          <p:cNvPr id="6" name="Text 5">
            <a:extLst>
              <a:ext uri="{FF2B5EF4-FFF2-40B4-BE49-F238E27FC236}">
                <a16:creationId xmlns:a16="http://schemas.microsoft.com/office/drawing/2014/main" id="{DF5EDF64-EA81-65A6-CFAD-FF0AD64B5873}"/>
              </a:ext>
            </a:extLst>
          </p:cNvPr>
          <p:cNvSpPr txBox="1"/>
          <p:nvPr/>
        </p:nvSpPr>
        <p:spPr>
          <a:xfrm>
            <a:off x="762000" y="3204865"/>
            <a:ext cx="10706100" cy="386655"/>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3. Choose a strategy using compilation and runtime carbon costs.</a:t>
            </a:r>
            <a:endParaRPr lang="en-IN" sz="2100">
              <a:solidFill>
                <a:srgbClr val="20352B"/>
              </a:solidFill>
              <a:latin typeface="&quot;Segoe UI&quot;"/>
            </a:endParaRPr>
          </a:p>
        </p:txBody>
      </p:sp>
      <p:sp>
        <p:nvSpPr>
          <p:cNvPr id="7" name="Text 6">
            <a:extLst>
              <a:ext uri="{FF2B5EF4-FFF2-40B4-BE49-F238E27FC236}">
                <a16:creationId xmlns:a16="http://schemas.microsoft.com/office/drawing/2014/main" id="{43F865D5-AF89-38E5-85FD-723886278E8B}"/>
              </a:ext>
            </a:extLst>
          </p:cNvPr>
          <p:cNvSpPr txBox="1"/>
          <p:nvPr/>
        </p:nvSpPr>
        <p:spPr>
          <a:xfrm>
            <a:off x="762000" y="3782020"/>
            <a:ext cx="10706100" cy="386655"/>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4. Apply a predicted runtime-overhead limit.</a:t>
            </a:r>
            <a:endParaRPr lang="en-IN" sz="2100">
              <a:solidFill>
                <a:srgbClr val="20352B"/>
              </a:solidFill>
              <a:latin typeface="&quot;Segoe UI&quot;"/>
            </a:endParaRPr>
          </a:p>
        </p:txBody>
      </p:sp>
      <p:sp>
        <p:nvSpPr>
          <p:cNvPr id="8" name="Text 7">
            <a:extLst>
              <a:ext uri="{FF2B5EF4-FFF2-40B4-BE49-F238E27FC236}">
                <a16:creationId xmlns:a16="http://schemas.microsoft.com/office/drawing/2014/main" id="{BAAEDA7C-A427-C834-E992-13013FE65022}"/>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02 / 12</a:t>
            </a:r>
          </a:p>
        </p:txBody>
      </p:sp>
    </p:spTree>
    <p:extLst>
      <p:ext uri="{BB962C8B-B14F-4D97-AF65-F5344CB8AC3E}">
        <p14:creationId xmlns:p14="http://schemas.microsoft.com/office/powerpoint/2010/main" val="1558100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263B65C2-B009-435A-11E2-B58AF15CE0DF}"/>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IN" sz="3225" b="1">
                <a:solidFill>
                  <a:srgbClr val="20352B"/>
                </a:solidFill>
                <a:latin typeface="&quot;Segoe UI&quot;"/>
              </a:rPr>
              <a:t>Compiler pipeline</a:t>
            </a:r>
          </a:p>
        </p:txBody>
      </p:sp>
      <p:sp>
        <p:nvSpPr>
          <p:cNvPr id="3" name="Text 2">
            <a:extLst>
              <a:ext uri="{FF2B5EF4-FFF2-40B4-BE49-F238E27FC236}">
                <a16:creationId xmlns:a16="http://schemas.microsoft.com/office/drawing/2014/main" id="{75BE1D54-4758-21C5-3CF4-CF42FCCBF26C}"/>
              </a:ext>
            </a:extLst>
          </p:cNvPr>
          <p:cNvSpPr txBox="1"/>
          <p:nvPr/>
        </p:nvSpPr>
        <p:spPr>
          <a:xfrm>
            <a:off x="762000" y="1423391"/>
            <a:ext cx="10706100" cy="762572"/>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1. Source to TAC
Lexer, parser, AST and baseline TAC</a:t>
            </a:r>
            <a:endParaRPr lang="en-IN" sz="2100">
              <a:solidFill>
                <a:srgbClr val="20352B"/>
              </a:solidFill>
              <a:latin typeface="&quot;Segoe UI&quot;"/>
            </a:endParaRPr>
          </a:p>
        </p:txBody>
      </p:sp>
      <p:sp>
        <p:nvSpPr>
          <p:cNvPr id="4" name="Text 3">
            <a:extLst>
              <a:ext uri="{FF2B5EF4-FFF2-40B4-BE49-F238E27FC236}">
                <a16:creationId xmlns:a16="http://schemas.microsoft.com/office/drawing/2014/main" id="{2D775BBF-B23F-4E49-9203-F1B47E468F83}"/>
              </a:ext>
            </a:extLst>
          </p:cNvPr>
          <p:cNvSpPr txBox="1"/>
          <p:nvPr/>
        </p:nvSpPr>
        <p:spPr>
          <a:xfrm>
            <a:off x="762000" y="2331987"/>
            <a:ext cx="10706100" cy="762572"/>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2. Optimization candidates
Baseline, lightweight and local DAG CSE</a:t>
            </a:r>
            <a:endParaRPr lang="en-IN" sz="2100">
              <a:solidFill>
                <a:srgbClr val="20352B"/>
              </a:solidFill>
              <a:latin typeface="&quot;Segoe UI&quot;"/>
            </a:endParaRPr>
          </a:p>
        </p:txBody>
      </p:sp>
      <p:sp>
        <p:nvSpPr>
          <p:cNvPr id="5" name="Text 4">
            <a:extLst>
              <a:ext uri="{FF2B5EF4-FFF2-40B4-BE49-F238E27FC236}">
                <a16:creationId xmlns:a16="http://schemas.microsoft.com/office/drawing/2014/main" id="{D5A24232-4ABB-2DB0-833C-EBC7AA31A23B}"/>
              </a:ext>
            </a:extLst>
          </p:cNvPr>
          <p:cNvSpPr txBox="1"/>
          <p:nvPr/>
        </p:nvSpPr>
        <p:spPr>
          <a:xfrm>
            <a:off x="762000" y="3240583"/>
            <a:ext cx="10706100" cy="762572"/>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3. Prediction and selection
Ten features, runtime model and carbon objective</a:t>
            </a:r>
            <a:endParaRPr lang="en-IN" sz="2100">
              <a:solidFill>
                <a:srgbClr val="20352B"/>
              </a:solidFill>
              <a:latin typeface="&quot;Segoe UI&quot;"/>
            </a:endParaRPr>
          </a:p>
        </p:txBody>
      </p:sp>
      <p:sp>
        <p:nvSpPr>
          <p:cNvPr id="6" name="Text 5">
            <a:extLst>
              <a:ext uri="{FF2B5EF4-FFF2-40B4-BE49-F238E27FC236}">
                <a16:creationId xmlns:a16="http://schemas.microsoft.com/office/drawing/2014/main" id="{64FC5314-E403-0058-4CC9-96C3454C4B00}"/>
              </a:ext>
            </a:extLst>
          </p:cNvPr>
          <p:cNvSpPr txBox="1"/>
          <p:nvPr/>
        </p:nvSpPr>
        <p:spPr>
          <a:xfrm>
            <a:off x="762000" y="4149178"/>
            <a:ext cx="10706100" cy="762572"/>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4. Output
Selected TAC and optional generated C</a:t>
            </a:r>
            <a:endParaRPr lang="en-IN" sz="2100">
              <a:solidFill>
                <a:srgbClr val="20352B"/>
              </a:solidFill>
              <a:latin typeface="&quot;Segoe UI&quot;"/>
            </a:endParaRPr>
          </a:p>
        </p:txBody>
      </p:sp>
      <p:sp>
        <p:nvSpPr>
          <p:cNvPr id="7" name="Text 6">
            <a:extLst>
              <a:ext uri="{FF2B5EF4-FFF2-40B4-BE49-F238E27FC236}">
                <a16:creationId xmlns:a16="http://schemas.microsoft.com/office/drawing/2014/main" id="{B6E4C397-3D0A-158C-462B-D4669B305793}"/>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03 / 12</a:t>
            </a:r>
          </a:p>
        </p:txBody>
      </p:sp>
    </p:spTree>
    <p:extLst>
      <p:ext uri="{BB962C8B-B14F-4D97-AF65-F5344CB8AC3E}">
        <p14:creationId xmlns:p14="http://schemas.microsoft.com/office/powerpoint/2010/main" val="833768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FED73E78-EABB-0FEF-956E-E63B33F6B461}"/>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IN" sz="3225" b="1">
                <a:solidFill>
                  <a:srgbClr val="20352B"/>
                </a:solidFill>
                <a:latin typeface="&quot;Segoe UI&quot;"/>
              </a:rPr>
              <a:t>Optimization evidence</a:t>
            </a:r>
          </a:p>
        </p:txBody>
      </p:sp>
      <p:graphicFrame>
        <p:nvGraphicFramePr>
          <p:cNvPr id="3" name="Table 2">
            <a:extLst>
              <a:ext uri="{FF2B5EF4-FFF2-40B4-BE49-F238E27FC236}">
                <a16:creationId xmlns:a16="http://schemas.microsoft.com/office/drawing/2014/main" id="{846A58EB-B18A-72EC-8648-475222021FA9}"/>
              </a:ext>
            </a:extLst>
          </p:cNvPr>
          <p:cNvGraphicFramePr>
            <a:graphicFrameLocks noGrp="1"/>
          </p:cNvGraphicFramePr>
          <p:nvPr>
            <p:extLst>
              <p:ext uri="{D42A27DB-BD31-4B8C-83A1-F6EECF244321}">
                <p14:modId xmlns:p14="http://schemas.microsoft.com/office/powerpoint/2010/main" val="4085823992"/>
              </p:ext>
            </p:extLst>
          </p:nvPr>
        </p:nvGraphicFramePr>
        <p:xfrm>
          <a:off x="723900" y="1423392"/>
          <a:ext cx="10744200" cy="2505075"/>
        </p:xfrm>
        <a:graphic>
          <a:graphicData uri="http://schemas.openxmlformats.org/drawingml/2006/table">
            <a:tbl>
              <a:tblPr firstRow="1" bandRow="1">
                <a:tableStyleId>{5C22544A-7EE6-4342-B048-85BDC9FD1C3A}</a:tableStyleId>
              </a:tblPr>
              <a:tblGrid>
                <a:gridCol w="2744837">
                  <a:extLst>
                    <a:ext uri="{9D8B030D-6E8A-4147-A177-3AD203B41FA5}">
                      <a16:colId xmlns:a16="http://schemas.microsoft.com/office/drawing/2014/main" val="1439432334"/>
                    </a:ext>
                  </a:extLst>
                </a:gridCol>
                <a:gridCol w="3838724">
                  <a:extLst>
                    <a:ext uri="{9D8B030D-6E8A-4147-A177-3AD203B41FA5}">
                      <a16:colId xmlns:a16="http://schemas.microsoft.com/office/drawing/2014/main" val="4268532009"/>
                    </a:ext>
                  </a:extLst>
                </a:gridCol>
                <a:gridCol w="4160639">
                  <a:extLst>
                    <a:ext uri="{9D8B030D-6E8A-4147-A177-3AD203B41FA5}">
                      <a16:colId xmlns:a16="http://schemas.microsoft.com/office/drawing/2014/main" val="3925936557"/>
                    </a:ext>
                  </a:extLst>
                </a:gridCol>
              </a:tblGrid>
              <a:tr h="609600">
                <a:tc>
                  <a:txBody>
                    <a:bodyPr/>
                    <a:lstStyle/>
                    <a:p>
                      <a:pPr>
                        <a:spcBef>
                          <a:spcPts val="0"/>
                        </a:spcBef>
                        <a:spcAft>
                          <a:spcPts val="0"/>
                        </a:spcAft>
                      </a:pPr>
                      <a:r>
                        <a:rPr lang="en-IN" sz="1875" b="1">
                          <a:solidFill>
                            <a:srgbClr val="205D40"/>
                          </a:solidFill>
                          <a:latin typeface="&quot;Segoe UI&quot;"/>
                        </a:rPr>
                        <a:t>Strategy</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TAC instructions</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Binary operations</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extLst>
                  <a:ext uri="{0D108BD9-81ED-4DB2-BD59-A6C34878D82A}">
                    <a16:rowId xmlns:a16="http://schemas.microsoft.com/office/drawing/2014/main" val="2236718013"/>
                  </a:ext>
                </a:extLst>
              </a:tr>
              <a:tr h="633413">
                <a:tc>
                  <a:txBody>
                    <a:bodyPr/>
                    <a:lstStyle/>
                    <a:p>
                      <a:pPr>
                        <a:spcBef>
                          <a:spcPts val="0"/>
                        </a:spcBef>
                        <a:spcAft>
                          <a:spcPts val="0"/>
                        </a:spcAft>
                      </a:pPr>
                      <a:r>
                        <a:rPr lang="en-IN" sz="1875" b="0">
                          <a:solidFill>
                            <a:srgbClr val="20352B"/>
                          </a:solidFill>
                          <a:latin typeface="&quot;Segoe UI&quot;"/>
                        </a:rPr>
                        <a:t>Baseline</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21</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13</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extLst>
                  <a:ext uri="{0D108BD9-81ED-4DB2-BD59-A6C34878D82A}">
                    <a16:rowId xmlns:a16="http://schemas.microsoft.com/office/drawing/2014/main" val="979063306"/>
                  </a:ext>
                </a:extLst>
              </a:tr>
              <a:tr h="628650">
                <a:tc>
                  <a:txBody>
                    <a:bodyPr/>
                    <a:lstStyle/>
                    <a:p>
                      <a:pPr>
                        <a:spcBef>
                          <a:spcPts val="0"/>
                        </a:spcBef>
                        <a:spcAft>
                          <a:spcPts val="0"/>
                        </a:spcAft>
                      </a:pPr>
                      <a:r>
                        <a:rPr lang="en-IN" sz="1875" b="0">
                          <a:solidFill>
                            <a:srgbClr val="20352B"/>
                          </a:solidFill>
                          <a:latin typeface="&quot;Segoe UI&quot;"/>
                        </a:rPr>
                        <a:t>Lightweight</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21</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8</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214719448"/>
                  </a:ext>
                </a:extLst>
              </a:tr>
              <a:tr h="628650">
                <a:tc>
                  <a:txBody>
                    <a:bodyPr/>
                    <a:lstStyle/>
                    <a:p>
                      <a:pPr>
                        <a:spcBef>
                          <a:spcPts val="0"/>
                        </a:spcBef>
                        <a:spcAft>
                          <a:spcPts val="0"/>
                        </a:spcAft>
                      </a:pPr>
                      <a:r>
                        <a:rPr lang="en-IN" sz="1875" b="0">
                          <a:solidFill>
                            <a:srgbClr val="20352B"/>
                          </a:solidFill>
                          <a:latin typeface="&quot;Segoe UI&quot;"/>
                        </a:rPr>
                        <a:t>DAG</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19</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6</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1526324946"/>
                  </a:ext>
                </a:extLst>
              </a:tr>
            </a:tbl>
          </a:graphicData>
        </a:graphic>
      </p:graphicFrame>
      <p:sp>
        <p:nvSpPr>
          <p:cNvPr id="4" name="Text 3">
            <a:extLst>
              <a:ext uri="{FF2B5EF4-FFF2-40B4-BE49-F238E27FC236}">
                <a16:creationId xmlns:a16="http://schemas.microsoft.com/office/drawing/2014/main" id="{36EA999C-F017-B81D-CFEA-50D2B7AAB0AD}"/>
              </a:ext>
            </a:extLst>
          </p:cNvPr>
          <p:cNvSpPr txBox="1"/>
          <p:nvPr/>
        </p:nvSpPr>
        <p:spPr>
          <a:xfrm>
            <a:off x="723900" y="4214217"/>
            <a:ext cx="10744200" cy="398653"/>
          </a:xfrm>
          <a:prstGeom prst="rect">
            <a:avLst/>
          </a:prstGeom>
          <a:noFill/>
        </p:spPr>
        <p:txBody>
          <a:bodyPr vert="horz" wrap="square" lIns="0" tIns="0" rIns="0" bIns="0" rtlCol="0">
            <a:noAutofit/>
          </a:bodyPr>
          <a:lstStyle/>
          <a:p>
            <a:pPr>
              <a:lnSpc>
                <a:spcPts val="3139"/>
              </a:lnSpc>
            </a:pPr>
            <a:r>
              <a:rPr lang="en-US" sz="2325">
                <a:solidFill>
                  <a:srgbClr val="20352B"/>
                </a:solidFill>
                <a:latin typeface="&quot;Segoe UI&quot;"/>
              </a:rPr>
              <a:t>DAG reduces TAC instruction count by 9.5%.</a:t>
            </a:r>
            <a:endParaRPr lang="en-IN" sz="2325">
              <a:solidFill>
                <a:srgbClr val="20352B"/>
              </a:solidFill>
              <a:latin typeface="&quot;Segoe UI&quot;"/>
            </a:endParaRPr>
          </a:p>
        </p:txBody>
      </p:sp>
      <p:sp>
        <p:nvSpPr>
          <p:cNvPr id="5" name="Text 4">
            <a:extLst>
              <a:ext uri="{FF2B5EF4-FFF2-40B4-BE49-F238E27FC236}">
                <a16:creationId xmlns:a16="http://schemas.microsoft.com/office/drawing/2014/main" id="{1E075407-A509-95E2-5076-F999477991E7}"/>
              </a:ext>
            </a:extLst>
          </p:cNvPr>
          <p:cNvSpPr txBox="1"/>
          <p:nvPr/>
        </p:nvSpPr>
        <p:spPr>
          <a:xfrm>
            <a:off x="723900" y="4841379"/>
            <a:ext cx="10744200" cy="275717"/>
          </a:xfrm>
          <a:prstGeom prst="rect">
            <a:avLst/>
          </a:prstGeom>
          <a:noFill/>
        </p:spPr>
        <p:txBody>
          <a:bodyPr vert="horz" wrap="square" lIns="0" tIns="0" rIns="0" bIns="0" rtlCol="0">
            <a:noAutofit/>
          </a:bodyPr>
          <a:lstStyle/>
          <a:p>
            <a:pPr>
              <a:lnSpc>
                <a:spcPts val="2100"/>
              </a:lnSpc>
            </a:pPr>
            <a:r>
              <a:rPr lang="en-US" sz="1500">
                <a:solidFill>
                  <a:srgbClr val="526559"/>
                </a:solidFill>
                <a:latin typeface="&quot;Segoe UI&quot;"/>
              </a:rPr>
              <a:t>Input: benchmarks/cse.c. Static code result, not measured energy savings.</a:t>
            </a:r>
            <a:endParaRPr lang="en-IN" sz="1500">
              <a:solidFill>
                <a:srgbClr val="526559"/>
              </a:solidFill>
              <a:latin typeface="&quot;Segoe UI&quot;"/>
            </a:endParaRPr>
          </a:p>
        </p:txBody>
      </p:sp>
      <p:sp>
        <p:nvSpPr>
          <p:cNvPr id="6" name="Text 5">
            <a:extLst>
              <a:ext uri="{FF2B5EF4-FFF2-40B4-BE49-F238E27FC236}">
                <a16:creationId xmlns:a16="http://schemas.microsoft.com/office/drawing/2014/main" id="{F4A2D35C-0F5A-2171-0BCF-92030D140FB5}"/>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04 / 12</a:t>
            </a:r>
          </a:p>
        </p:txBody>
      </p:sp>
    </p:spTree>
    <p:extLst>
      <p:ext uri="{BB962C8B-B14F-4D97-AF65-F5344CB8AC3E}">
        <p14:creationId xmlns:p14="http://schemas.microsoft.com/office/powerpoint/2010/main" val="1966619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62FC303C-BFBE-FCD1-352C-9B091A1E3201}"/>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US" sz="3225" b="1">
                <a:solidFill>
                  <a:srgbClr val="20352B"/>
                </a:solidFill>
                <a:latin typeface="&quot;Segoe UI&quot;"/>
              </a:rPr>
              <a:t>Carbon objective and proposed contribution</a:t>
            </a:r>
            <a:endParaRPr lang="en-IN" sz="3225" b="1">
              <a:solidFill>
                <a:srgbClr val="20352B"/>
              </a:solidFill>
              <a:latin typeface="&quot;Segoe UI&quot;"/>
            </a:endParaRPr>
          </a:p>
        </p:txBody>
      </p:sp>
      <p:sp>
        <p:nvSpPr>
          <p:cNvPr id="3" name="Text 2">
            <a:extLst>
              <a:ext uri="{FF2B5EF4-FFF2-40B4-BE49-F238E27FC236}">
                <a16:creationId xmlns:a16="http://schemas.microsoft.com/office/drawing/2014/main" id="{8DE2C201-15BD-4E32-DC51-E86B6F6E3BE3}"/>
              </a:ext>
            </a:extLst>
          </p:cNvPr>
          <p:cNvSpPr txBox="1"/>
          <p:nvPr/>
        </p:nvSpPr>
        <p:spPr>
          <a:xfrm>
            <a:off x="723900" y="1423392"/>
            <a:ext cx="10744200" cy="1006971"/>
          </a:xfrm>
          <a:prstGeom prst="rect">
            <a:avLst/>
          </a:prstGeom>
          <a:noFill/>
        </p:spPr>
        <p:txBody>
          <a:bodyPr vert="horz" wrap="square" lIns="0" tIns="0" rIns="0" bIns="0" rtlCol="0">
            <a:noAutofit/>
          </a:bodyPr>
          <a:lstStyle/>
          <a:p>
            <a:pPr>
              <a:lnSpc>
                <a:spcPts val="3840"/>
              </a:lnSpc>
            </a:pPr>
            <a:r>
              <a:rPr lang="it-IT" sz="2400">
                <a:solidFill>
                  <a:srgbClr val="20352B"/>
                </a:solidFill>
                <a:latin typeface="Georgia" panose="02040502050405020303" pitchFamily="18" charset="0"/>
              </a:rPr>
              <a:t>C = (E_compile CI_compile + N E_runtime CI_runtime) / 3,600,000</a:t>
            </a:r>
            <a:endParaRPr lang="en-IN" sz="2400">
              <a:solidFill>
                <a:srgbClr val="20352B"/>
              </a:solidFill>
              <a:latin typeface="Georgia" panose="02040502050405020303" pitchFamily="18" charset="0"/>
            </a:endParaRPr>
          </a:p>
        </p:txBody>
      </p:sp>
      <p:sp>
        <p:nvSpPr>
          <p:cNvPr id="4" name="Text 3">
            <a:extLst>
              <a:ext uri="{FF2B5EF4-FFF2-40B4-BE49-F238E27FC236}">
                <a16:creationId xmlns:a16="http://schemas.microsoft.com/office/drawing/2014/main" id="{D8045F50-2FB9-C3F0-C472-DA3617DF5B7E}"/>
              </a:ext>
            </a:extLst>
          </p:cNvPr>
          <p:cNvSpPr txBox="1"/>
          <p:nvPr/>
        </p:nvSpPr>
        <p:spPr>
          <a:xfrm>
            <a:off x="723900" y="2658963"/>
            <a:ext cx="10744200" cy="398653"/>
          </a:xfrm>
          <a:prstGeom prst="rect">
            <a:avLst/>
          </a:prstGeom>
          <a:noFill/>
        </p:spPr>
        <p:txBody>
          <a:bodyPr vert="horz" wrap="square" lIns="0" tIns="0" rIns="0" bIns="0" rtlCol="0">
            <a:noAutofit/>
          </a:bodyPr>
          <a:lstStyle/>
          <a:p>
            <a:pPr>
              <a:lnSpc>
                <a:spcPts val="3139"/>
              </a:lnSpc>
            </a:pPr>
            <a:r>
              <a:rPr lang="en-US" sz="2325">
                <a:solidFill>
                  <a:srgbClr val="20352B"/>
                </a:solidFill>
                <a:latin typeface="&quot;Segoe UI&quot;"/>
              </a:rPr>
              <a:t>Minimize predicted carbon subject to a runtime limit.</a:t>
            </a:r>
            <a:endParaRPr lang="en-IN" sz="2325">
              <a:solidFill>
                <a:srgbClr val="20352B"/>
              </a:solidFill>
              <a:latin typeface="&quot;Segoe UI&quot;"/>
            </a:endParaRPr>
          </a:p>
        </p:txBody>
      </p:sp>
      <p:sp>
        <p:nvSpPr>
          <p:cNvPr id="5" name="Text 4">
            <a:extLst>
              <a:ext uri="{FF2B5EF4-FFF2-40B4-BE49-F238E27FC236}">
                <a16:creationId xmlns:a16="http://schemas.microsoft.com/office/drawing/2014/main" id="{1027B1DF-F467-62BC-82A5-684445E87990}"/>
              </a:ext>
            </a:extLst>
          </p:cNvPr>
          <p:cNvSpPr txBox="1"/>
          <p:nvPr/>
        </p:nvSpPr>
        <p:spPr>
          <a:xfrm>
            <a:off x="723900" y="3286124"/>
            <a:ext cx="10744200" cy="737870"/>
          </a:xfrm>
          <a:prstGeom prst="rect">
            <a:avLst/>
          </a:prstGeom>
          <a:noFill/>
        </p:spPr>
        <p:txBody>
          <a:bodyPr vert="horz" wrap="square" lIns="0" tIns="0" rIns="0" bIns="0" rtlCol="0">
            <a:noAutofit/>
          </a:bodyPr>
          <a:lstStyle/>
          <a:p>
            <a:pPr>
              <a:lnSpc>
                <a:spcPts val="2875"/>
              </a:lnSpc>
            </a:pPr>
            <a:r>
              <a:rPr lang="en-US" sz="2025">
                <a:solidFill>
                  <a:srgbClr val="20352B"/>
                </a:solidFill>
                <a:latin typeface="&quot;Segoe UI&quot;"/>
              </a:rPr>
              <a:t>Combine compilation cost, expected reuse and separate carbon intensities for compilation and execution.</a:t>
            </a:r>
            <a:endParaRPr lang="en-IN" sz="2025">
              <a:solidFill>
                <a:srgbClr val="20352B"/>
              </a:solidFill>
              <a:latin typeface="&quot;Segoe UI&quot;"/>
            </a:endParaRPr>
          </a:p>
        </p:txBody>
      </p:sp>
      <p:sp>
        <p:nvSpPr>
          <p:cNvPr id="6" name="Text 5">
            <a:extLst>
              <a:ext uri="{FF2B5EF4-FFF2-40B4-BE49-F238E27FC236}">
                <a16:creationId xmlns:a16="http://schemas.microsoft.com/office/drawing/2014/main" id="{88F6BDFE-3910-E780-5565-14B427A345D1}"/>
              </a:ext>
            </a:extLst>
          </p:cNvPr>
          <p:cNvSpPr txBox="1"/>
          <p:nvPr/>
        </p:nvSpPr>
        <p:spPr>
          <a:xfrm>
            <a:off x="723900" y="4244876"/>
            <a:ext cx="10744200" cy="275717"/>
          </a:xfrm>
          <a:prstGeom prst="rect">
            <a:avLst/>
          </a:prstGeom>
          <a:noFill/>
        </p:spPr>
        <p:txBody>
          <a:bodyPr vert="horz" wrap="square" lIns="0" tIns="0" rIns="0" bIns="0" rtlCol="0">
            <a:noAutofit/>
          </a:bodyPr>
          <a:lstStyle/>
          <a:p>
            <a:pPr>
              <a:lnSpc>
                <a:spcPts val="2100"/>
              </a:lnSpc>
            </a:pPr>
            <a:r>
              <a:rPr lang="en-US" sz="1500">
                <a:solidFill>
                  <a:srgbClr val="526559"/>
                </a:solidFill>
                <a:latin typeface="&quot;Segoe UI&quot;"/>
              </a:rPr>
              <a:t>Energy in J. Intensity in gCO2e/kWh. Novelty against prior research remains to be established.</a:t>
            </a:r>
            <a:endParaRPr lang="en-IN" sz="1500">
              <a:solidFill>
                <a:srgbClr val="526559"/>
              </a:solidFill>
              <a:latin typeface="&quot;Segoe UI&quot;"/>
            </a:endParaRPr>
          </a:p>
        </p:txBody>
      </p:sp>
      <p:sp>
        <p:nvSpPr>
          <p:cNvPr id="7" name="Text 6">
            <a:extLst>
              <a:ext uri="{FF2B5EF4-FFF2-40B4-BE49-F238E27FC236}">
                <a16:creationId xmlns:a16="http://schemas.microsoft.com/office/drawing/2014/main" id="{7ABE8DBA-DC4D-E61F-2128-15FD36623FC7}"/>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05 / 12</a:t>
            </a:r>
          </a:p>
        </p:txBody>
      </p:sp>
    </p:spTree>
    <p:extLst>
      <p:ext uri="{BB962C8B-B14F-4D97-AF65-F5344CB8AC3E}">
        <p14:creationId xmlns:p14="http://schemas.microsoft.com/office/powerpoint/2010/main" val="1967583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862F82CE-2DAF-7565-EFF3-24B1A9062BB8}"/>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IN" sz="3225" b="1">
                <a:solidFill>
                  <a:srgbClr val="20352B"/>
                </a:solidFill>
                <a:latin typeface="&quot;Segoe UI&quot;"/>
              </a:rPr>
              <a:t>Runtime study</a:t>
            </a:r>
          </a:p>
        </p:txBody>
      </p:sp>
      <p:sp>
        <p:nvSpPr>
          <p:cNvPr id="3" name="Text 2">
            <a:extLst>
              <a:ext uri="{FF2B5EF4-FFF2-40B4-BE49-F238E27FC236}">
                <a16:creationId xmlns:a16="http://schemas.microsoft.com/office/drawing/2014/main" id="{3DF6938C-592C-5480-233E-64EF7FCC50E0}"/>
              </a:ext>
            </a:extLst>
          </p:cNvPr>
          <p:cNvSpPr txBox="1"/>
          <p:nvPr/>
        </p:nvSpPr>
        <p:spPr>
          <a:xfrm>
            <a:off x="723900" y="1423392"/>
            <a:ext cx="972145" cy="942975"/>
          </a:xfrm>
          <a:prstGeom prst="rect">
            <a:avLst/>
          </a:prstGeom>
          <a:noFill/>
        </p:spPr>
        <p:txBody>
          <a:bodyPr vert="horz" wrap="square" lIns="0" tIns="0" rIns="0" bIns="0" rtlCol="0">
            <a:noAutofit/>
          </a:bodyPr>
          <a:lstStyle/>
          <a:p>
            <a:pPr>
              <a:lnSpc>
                <a:spcPts val="6660"/>
              </a:lnSpc>
            </a:pPr>
            <a:r>
              <a:rPr lang="en-IN" sz="5550" b="1">
                <a:solidFill>
                  <a:srgbClr val="206844"/>
                </a:solidFill>
                <a:latin typeface="&quot;Segoe UI&quot;"/>
              </a:rPr>
              <a:t>31</a:t>
            </a:r>
          </a:p>
        </p:txBody>
      </p:sp>
      <p:sp>
        <p:nvSpPr>
          <p:cNvPr id="4" name="Text 3">
            <a:extLst>
              <a:ext uri="{FF2B5EF4-FFF2-40B4-BE49-F238E27FC236}">
                <a16:creationId xmlns:a16="http://schemas.microsoft.com/office/drawing/2014/main" id="{22FB0784-E777-4667-FA00-33184EBB5193}"/>
              </a:ext>
            </a:extLst>
          </p:cNvPr>
          <p:cNvSpPr txBox="1"/>
          <p:nvPr/>
        </p:nvSpPr>
        <p:spPr>
          <a:xfrm>
            <a:off x="723900" y="2366366"/>
            <a:ext cx="972145" cy="304800"/>
          </a:xfrm>
          <a:prstGeom prst="rect">
            <a:avLst/>
          </a:prstGeom>
          <a:noFill/>
        </p:spPr>
        <p:txBody>
          <a:bodyPr vert="horz" wrap="square" lIns="0" tIns="0" rIns="0" bIns="0" rtlCol="0">
            <a:noAutofit/>
          </a:bodyPr>
          <a:lstStyle/>
          <a:p>
            <a:pPr>
              <a:lnSpc>
                <a:spcPts val="2160"/>
              </a:lnSpc>
            </a:pPr>
            <a:r>
              <a:rPr lang="en-IN">
                <a:solidFill>
                  <a:srgbClr val="20352B"/>
                </a:solidFill>
                <a:latin typeface="&quot;Segoe UI&quot;"/>
              </a:rPr>
              <a:t>programs</a:t>
            </a:r>
          </a:p>
        </p:txBody>
      </p:sp>
      <p:sp>
        <p:nvSpPr>
          <p:cNvPr id="5" name="Text 4">
            <a:extLst>
              <a:ext uri="{FF2B5EF4-FFF2-40B4-BE49-F238E27FC236}">
                <a16:creationId xmlns:a16="http://schemas.microsoft.com/office/drawing/2014/main" id="{9513835F-F2E2-DED8-EE66-1A95B5F8451E}"/>
              </a:ext>
            </a:extLst>
          </p:cNvPr>
          <p:cNvSpPr txBox="1"/>
          <p:nvPr/>
        </p:nvSpPr>
        <p:spPr>
          <a:xfrm>
            <a:off x="2362795" y="1423392"/>
            <a:ext cx="2353568" cy="942975"/>
          </a:xfrm>
          <a:prstGeom prst="rect">
            <a:avLst/>
          </a:prstGeom>
          <a:noFill/>
        </p:spPr>
        <p:txBody>
          <a:bodyPr vert="horz" wrap="square" lIns="0" tIns="0" rIns="0" bIns="0" rtlCol="0">
            <a:noAutofit/>
          </a:bodyPr>
          <a:lstStyle/>
          <a:p>
            <a:pPr>
              <a:lnSpc>
                <a:spcPts val="6660"/>
              </a:lnSpc>
            </a:pPr>
            <a:r>
              <a:rPr lang="en-IN" sz="5550" b="1">
                <a:solidFill>
                  <a:srgbClr val="206844"/>
                </a:solidFill>
                <a:latin typeface="&quot;Segoe UI&quot;"/>
              </a:rPr>
              <a:t>93</a:t>
            </a:r>
          </a:p>
        </p:txBody>
      </p:sp>
      <p:sp>
        <p:nvSpPr>
          <p:cNvPr id="6" name="Text 5">
            <a:extLst>
              <a:ext uri="{FF2B5EF4-FFF2-40B4-BE49-F238E27FC236}">
                <a16:creationId xmlns:a16="http://schemas.microsoft.com/office/drawing/2014/main" id="{AA890F7F-F483-AC44-062B-2DFB3DF0DBE7}"/>
              </a:ext>
            </a:extLst>
          </p:cNvPr>
          <p:cNvSpPr txBox="1"/>
          <p:nvPr/>
        </p:nvSpPr>
        <p:spPr>
          <a:xfrm>
            <a:off x="2362795" y="2366366"/>
            <a:ext cx="2353568" cy="304800"/>
          </a:xfrm>
          <a:prstGeom prst="rect">
            <a:avLst/>
          </a:prstGeom>
          <a:noFill/>
        </p:spPr>
        <p:txBody>
          <a:bodyPr vert="horz" wrap="square" lIns="0" tIns="0" rIns="0" bIns="0" rtlCol="0">
            <a:noAutofit/>
          </a:bodyPr>
          <a:lstStyle/>
          <a:p>
            <a:pPr>
              <a:lnSpc>
                <a:spcPts val="2160"/>
              </a:lnSpc>
            </a:pPr>
            <a:r>
              <a:rPr lang="en-IN">
                <a:solidFill>
                  <a:srgbClr val="20352B"/>
                </a:solidFill>
                <a:latin typeface="&quot;Segoe UI&quot;"/>
              </a:rPr>
              <a:t>strategy measurements</a:t>
            </a:r>
          </a:p>
        </p:txBody>
      </p:sp>
      <p:sp>
        <p:nvSpPr>
          <p:cNvPr id="7" name="Text 6">
            <a:extLst>
              <a:ext uri="{FF2B5EF4-FFF2-40B4-BE49-F238E27FC236}">
                <a16:creationId xmlns:a16="http://schemas.microsoft.com/office/drawing/2014/main" id="{80BD7253-3B6F-7C79-AF2F-A374B30102CF}"/>
              </a:ext>
            </a:extLst>
          </p:cNvPr>
          <p:cNvSpPr txBox="1"/>
          <p:nvPr/>
        </p:nvSpPr>
        <p:spPr>
          <a:xfrm>
            <a:off x="5383113" y="1423392"/>
            <a:ext cx="1426220" cy="942975"/>
          </a:xfrm>
          <a:prstGeom prst="rect">
            <a:avLst/>
          </a:prstGeom>
          <a:noFill/>
        </p:spPr>
        <p:txBody>
          <a:bodyPr vert="horz" wrap="square" lIns="0" tIns="0" rIns="0" bIns="0" rtlCol="0">
            <a:noAutofit/>
          </a:bodyPr>
          <a:lstStyle/>
          <a:p>
            <a:pPr>
              <a:lnSpc>
                <a:spcPts val="6660"/>
              </a:lnSpc>
            </a:pPr>
            <a:r>
              <a:rPr lang="en-IN" sz="5550" b="1">
                <a:solidFill>
                  <a:srgbClr val="206844"/>
                </a:solidFill>
                <a:latin typeface="&quot;Segoe UI&quot;"/>
              </a:rPr>
              <a:t>465</a:t>
            </a:r>
          </a:p>
        </p:txBody>
      </p:sp>
      <p:sp>
        <p:nvSpPr>
          <p:cNvPr id="8" name="Text 7">
            <a:extLst>
              <a:ext uri="{FF2B5EF4-FFF2-40B4-BE49-F238E27FC236}">
                <a16:creationId xmlns:a16="http://schemas.microsoft.com/office/drawing/2014/main" id="{FB9A1F1B-7421-8D31-48EC-28B53DB28E0D}"/>
              </a:ext>
            </a:extLst>
          </p:cNvPr>
          <p:cNvSpPr txBox="1"/>
          <p:nvPr/>
        </p:nvSpPr>
        <p:spPr>
          <a:xfrm>
            <a:off x="5383113" y="2366366"/>
            <a:ext cx="1426220" cy="304800"/>
          </a:xfrm>
          <a:prstGeom prst="rect">
            <a:avLst/>
          </a:prstGeom>
          <a:noFill/>
        </p:spPr>
        <p:txBody>
          <a:bodyPr vert="horz" wrap="square" lIns="0" tIns="0" rIns="0" bIns="0" rtlCol="0">
            <a:noAutofit/>
          </a:bodyPr>
          <a:lstStyle/>
          <a:p>
            <a:pPr>
              <a:lnSpc>
                <a:spcPts val="2160"/>
              </a:lnSpc>
            </a:pPr>
            <a:r>
              <a:rPr lang="en-IN">
                <a:solidFill>
                  <a:srgbClr val="20352B"/>
                </a:solidFill>
                <a:latin typeface="&quot;Segoe UI&quot;"/>
              </a:rPr>
              <a:t>timed batches</a:t>
            </a:r>
          </a:p>
        </p:txBody>
      </p:sp>
      <p:sp>
        <p:nvSpPr>
          <p:cNvPr id="9" name="Text 8">
            <a:extLst>
              <a:ext uri="{FF2B5EF4-FFF2-40B4-BE49-F238E27FC236}">
                <a16:creationId xmlns:a16="http://schemas.microsoft.com/office/drawing/2014/main" id="{671E329C-CDB2-917E-B959-2BB90F7069D1}"/>
              </a:ext>
            </a:extLst>
          </p:cNvPr>
          <p:cNvSpPr txBox="1"/>
          <p:nvPr/>
        </p:nvSpPr>
        <p:spPr>
          <a:xfrm>
            <a:off x="723900" y="3033116"/>
            <a:ext cx="10744200" cy="737870"/>
          </a:xfrm>
          <a:prstGeom prst="rect">
            <a:avLst/>
          </a:prstGeom>
          <a:noFill/>
        </p:spPr>
        <p:txBody>
          <a:bodyPr vert="horz" wrap="square" lIns="0" tIns="0" rIns="0" bIns="0" rtlCol="0">
            <a:noAutofit/>
          </a:bodyPr>
          <a:lstStyle/>
          <a:p>
            <a:pPr>
              <a:lnSpc>
                <a:spcPts val="2875"/>
              </a:lnSpc>
            </a:pPr>
            <a:r>
              <a:rPr lang="en-US" sz="2025">
                <a:solidFill>
                  <a:srgbClr val="20352B"/>
                </a:solidFill>
                <a:latin typeface="&quot;Segoe UI&quot;"/>
              </a:rPr>
              <a:t>Five benchmark categories and the handwritten CSE example. Ten warmup invocations, adaptive batch size and five samples per strategy.</a:t>
            </a:r>
            <a:endParaRPr lang="en-IN" sz="2025">
              <a:solidFill>
                <a:srgbClr val="20352B"/>
              </a:solidFill>
              <a:latin typeface="&quot;Segoe UI&quot;"/>
            </a:endParaRPr>
          </a:p>
        </p:txBody>
      </p:sp>
      <p:sp>
        <p:nvSpPr>
          <p:cNvPr id="10" name="Text 9">
            <a:extLst>
              <a:ext uri="{FF2B5EF4-FFF2-40B4-BE49-F238E27FC236}">
                <a16:creationId xmlns:a16="http://schemas.microsoft.com/office/drawing/2014/main" id="{3D562A02-91A6-7600-5926-84D5E6BF8B85}"/>
              </a:ext>
            </a:extLst>
          </p:cNvPr>
          <p:cNvSpPr txBox="1"/>
          <p:nvPr/>
        </p:nvSpPr>
        <p:spPr>
          <a:xfrm>
            <a:off x="723900" y="3991867"/>
            <a:ext cx="10744200" cy="369570"/>
          </a:xfrm>
          <a:prstGeom prst="rect">
            <a:avLst/>
          </a:prstGeom>
          <a:noFill/>
        </p:spPr>
        <p:txBody>
          <a:bodyPr vert="horz" wrap="square" lIns="0" tIns="0" rIns="0" bIns="0" rtlCol="0">
            <a:noAutofit/>
          </a:bodyPr>
          <a:lstStyle/>
          <a:p>
            <a:pPr>
              <a:lnSpc>
                <a:spcPts val="2875"/>
              </a:lnSpc>
            </a:pPr>
            <a:r>
              <a:rPr lang="en-US" sz="2025">
                <a:solidFill>
                  <a:srgbClr val="20352B"/>
                </a:solidFill>
                <a:latin typeface="&quot;Segoe UI&quot;"/>
              </a:rPr>
              <a:t>In-process timer excludes startup. Median batch time per invocation at GCC -O0.</a:t>
            </a:r>
            <a:endParaRPr lang="en-IN" sz="2025">
              <a:solidFill>
                <a:srgbClr val="20352B"/>
              </a:solidFill>
              <a:latin typeface="&quot;Segoe UI&quot;"/>
            </a:endParaRPr>
          </a:p>
        </p:txBody>
      </p:sp>
      <p:sp>
        <p:nvSpPr>
          <p:cNvPr id="11" name="Text 10">
            <a:extLst>
              <a:ext uri="{FF2B5EF4-FFF2-40B4-BE49-F238E27FC236}">
                <a16:creationId xmlns:a16="http://schemas.microsoft.com/office/drawing/2014/main" id="{B2324BB0-298D-331C-9FB9-0D7C73165E0A}"/>
              </a:ext>
            </a:extLst>
          </p:cNvPr>
          <p:cNvSpPr txBox="1"/>
          <p:nvPr/>
        </p:nvSpPr>
        <p:spPr>
          <a:xfrm>
            <a:off x="723900" y="4585543"/>
            <a:ext cx="10744200" cy="275717"/>
          </a:xfrm>
          <a:prstGeom prst="rect">
            <a:avLst/>
          </a:prstGeom>
          <a:noFill/>
        </p:spPr>
        <p:txBody>
          <a:bodyPr vert="horz" wrap="square" lIns="0" tIns="0" rIns="0" bIns="0" rtlCol="0">
            <a:noAutofit/>
          </a:bodyPr>
          <a:lstStyle/>
          <a:p>
            <a:pPr>
              <a:lnSpc>
                <a:spcPts val="2100"/>
              </a:lnSpc>
            </a:pPr>
            <a:r>
              <a:rPr lang="en-US" sz="1500">
                <a:solidFill>
                  <a:srgbClr val="526559"/>
                </a:solidFill>
                <a:latin typeface="&quot;Segoe UI&quot;"/>
              </a:rPr>
              <a:t>Windows 11, GCC 15.2.0, QueryPerformanceCounter. Physical energy fields remain blank.</a:t>
            </a:r>
            <a:endParaRPr lang="en-IN" sz="1500">
              <a:solidFill>
                <a:srgbClr val="526559"/>
              </a:solidFill>
              <a:latin typeface="&quot;Segoe UI&quot;"/>
            </a:endParaRPr>
          </a:p>
        </p:txBody>
      </p:sp>
      <p:sp>
        <p:nvSpPr>
          <p:cNvPr id="12" name="Text 11">
            <a:extLst>
              <a:ext uri="{FF2B5EF4-FFF2-40B4-BE49-F238E27FC236}">
                <a16:creationId xmlns:a16="http://schemas.microsoft.com/office/drawing/2014/main" id="{246FCEF3-4968-92C9-4675-E4616A2E69CB}"/>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06 / 12</a:t>
            </a:r>
          </a:p>
        </p:txBody>
      </p:sp>
    </p:spTree>
    <p:extLst>
      <p:ext uri="{BB962C8B-B14F-4D97-AF65-F5344CB8AC3E}">
        <p14:creationId xmlns:p14="http://schemas.microsoft.com/office/powerpoint/2010/main" val="4142272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72743287-ECAB-CF99-82E1-875550B4BE07}"/>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US" sz="3225" b="1">
                <a:solidFill>
                  <a:srgbClr val="20352B"/>
                </a:solidFill>
                <a:latin typeface="&quot;Segoe UI&quot;"/>
              </a:rPr>
              <a:t>Runtime validation found poor accuracy</a:t>
            </a:r>
            <a:endParaRPr lang="en-IN" sz="3225" b="1">
              <a:solidFill>
                <a:srgbClr val="20352B"/>
              </a:solidFill>
              <a:latin typeface="&quot;Segoe UI&quot;"/>
            </a:endParaRPr>
          </a:p>
        </p:txBody>
      </p:sp>
      <p:graphicFrame>
        <p:nvGraphicFramePr>
          <p:cNvPr id="3" name="Table 2">
            <a:extLst>
              <a:ext uri="{FF2B5EF4-FFF2-40B4-BE49-F238E27FC236}">
                <a16:creationId xmlns:a16="http://schemas.microsoft.com/office/drawing/2014/main" id="{4F2BC331-E266-B36E-FE6B-FC7A001C4349}"/>
              </a:ext>
            </a:extLst>
          </p:cNvPr>
          <p:cNvGraphicFramePr>
            <a:graphicFrameLocks noGrp="1"/>
          </p:cNvGraphicFramePr>
          <p:nvPr>
            <p:extLst>
              <p:ext uri="{D42A27DB-BD31-4B8C-83A1-F6EECF244321}">
                <p14:modId xmlns:p14="http://schemas.microsoft.com/office/powerpoint/2010/main" val="674226569"/>
              </p:ext>
            </p:extLst>
          </p:nvPr>
        </p:nvGraphicFramePr>
        <p:xfrm>
          <a:off x="723900" y="1423392"/>
          <a:ext cx="10744200" cy="2505075"/>
        </p:xfrm>
        <a:graphic>
          <a:graphicData uri="http://schemas.openxmlformats.org/drawingml/2006/table">
            <a:tbl>
              <a:tblPr firstRow="1" bandRow="1">
                <a:tableStyleId>{5C22544A-7EE6-4342-B048-85BDC9FD1C3A}</a:tableStyleId>
              </a:tblPr>
              <a:tblGrid>
                <a:gridCol w="1920925">
                  <a:extLst>
                    <a:ext uri="{9D8B030D-6E8A-4147-A177-3AD203B41FA5}">
                      <a16:colId xmlns:a16="http://schemas.microsoft.com/office/drawing/2014/main" val="2414315299"/>
                    </a:ext>
                  </a:extLst>
                </a:gridCol>
                <a:gridCol w="1451670">
                  <a:extLst>
                    <a:ext uri="{9D8B030D-6E8A-4147-A177-3AD203B41FA5}">
                      <a16:colId xmlns:a16="http://schemas.microsoft.com/office/drawing/2014/main" val="3245162046"/>
                    </a:ext>
                  </a:extLst>
                </a:gridCol>
                <a:gridCol w="1617166">
                  <a:extLst>
                    <a:ext uri="{9D8B030D-6E8A-4147-A177-3AD203B41FA5}">
                      <a16:colId xmlns:a16="http://schemas.microsoft.com/office/drawing/2014/main" val="2655677552"/>
                    </a:ext>
                  </a:extLst>
                </a:gridCol>
                <a:gridCol w="1831925">
                  <a:extLst>
                    <a:ext uri="{9D8B030D-6E8A-4147-A177-3AD203B41FA5}">
                      <a16:colId xmlns:a16="http://schemas.microsoft.com/office/drawing/2014/main" val="4145156639"/>
                    </a:ext>
                  </a:extLst>
                </a:gridCol>
                <a:gridCol w="3922514">
                  <a:extLst>
                    <a:ext uri="{9D8B030D-6E8A-4147-A177-3AD203B41FA5}">
                      <a16:colId xmlns:a16="http://schemas.microsoft.com/office/drawing/2014/main" val="1105749101"/>
                    </a:ext>
                  </a:extLst>
                </a:gridCol>
              </a:tblGrid>
              <a:tr h="609600">
                <a:tc>
                  <a:txBody>
                    <a:bodyPr/>
                    <a:lstStyle/>
                    <a:p>
                      <a:pPr>
                        <a:spcBef>
                          <a:spcPts val="0"/>
                        </a:spcBef>
                        <a:spcAft>
                          <a:spcPts val="0"/>
                        </a:spcAft>
                      </a:pPr>
                      <a:r>
                        <a:rPr lang="en-IN" sz="1875" b="1">
                          <a:solidFill>
                            <a:srgbClr val="205D40"/>
                          </a:solidFill>
                          <a:latin typeface="&quot;Segoe UI&quot;"/>
                        </a:rPr>
                        <a:t>Strategy</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MAE ns</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RMSE ns</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R squared</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Mean reference MAE ns</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extLst>
                  <a:ext uri="{0D108BD9-81ED-4DB2-BD59-A6C34878D82A}">
                    <a16:rowId xmlns:a16="http://schemas.microsoft.com/office/drawing/2014/main" val="1351717218"/>
                  </a:ext>
                </a:extLst>
              </a:tr>
              <a:tr h="633413">
                <a:tc>
                  <a:txBody>
                    <a:bodyPr/>
                    <a:lstStyle/>
                    <a:p>
                      <a:pPr>
                        <a:spcBef>
                          <a:spcPts val="0"/>
                        </a:spcBef>
                        <a:spcAft>
                          <a:spcPts val="0"/>
                        </a:spcAft>
                      </a:pPr>
                      <a:r>
                        <a:rPr lang="en-IN" sz="1875" b="0">
                          <a:solidFill>
                            <a:srgbClr val="20352B"/>
                          </a:solidFill>
                          <a:latin typeface="&quot;Segoe UI&quot;"/>
                        </a:rPr>
                        <a:t>baseline</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12.80</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14.01</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-139.15</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9.02</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extLst>
                  <a:ext uri="{0D108BD9-81ED-4DB2-BD59-A6C34878D82A}">
                    <a16:rowId xmlns:a16="http://schemas.microsoft.com/office/drawing/2014/main" val="853880407"/>
                  </a:ext>
                </a:extLst>
              </a:tr>
              <a:tr h="628650">
                <a:tc>
                  <a:txBody>
                    <a:bodyPr/>
                    <a:lstStyle/>
                    <a:p>
                      <a:pPr>
                        <a:spcBef>
                          <a:spcPts val="0"/>
                        </a:spcBef>
                        <a:spcAft>
                          <a:spcPts val="0"/>
                        </a:spcAft>
                      </a:pPr>
                      <a:r>
                        <a:rPr lang="en-IN" sz="1875" b="0">
                          <a:solidFill>
                            <a:srgbClr val="20352B"/>
                          </a:solidFill>
                          <a:latin typeface="&quot;Segoe UI&quot;"/>
                        </a:rPr>
                        <a:t>lightweight</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12.46</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13.63</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-118.16</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8.90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385239400"/>
                  </a:ext>
                </a:extLst>
              </a:tr>
              <a:tr h="628650">
                <a:tc>
                  <a:txBody>
                    <a:bodyPr/>
                    <a:lstStyle/>
                    <a:p>
                      <a:pPr>
                        <a:spcBef>
                          <a:spcPts val="0"/>
                        </a:spcBef>
                        <a:spcAft>
                          <a:spcPts val="0"/>
                        </a:spcAft>
                      </a:pPr>
                      <a:r>
                        <a:rPr lang="en-IN" sz="1875" b="0">
                          <a:solidFill>
                            <a:srgbClr val="20352B"/>
                          </a:solidFill>
                          <a:latin typeface="&quot;Segoe UI&quot;"/>
                        </a:rPr>
                        <a:t>dag</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12.73</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13.84</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-194.40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9.13</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1725701386"/>
                  </a:ext>
                </a:extLst>
              </a:tr>
            </a:tbl>
          </a:graphicData>
        </a:graphic>
      </p:graphicFrame>
      <p:sp>
        <p:nvSpPr>
          <p:cNvPr id="4" name="Text 3">
            <a:extLst>
              <a:ext uri="{FF2B5EF4-FFF2-40B4-BE49-F238E27FC236}">
                <a16:creationId xmlns:a16="http://schemas.microsoft.com/office/drawing/2014/main" id="{1C540A2E-2358-02DB-C7C6-A3CEA0AF239C}"/>
              </a:ext>
            </a:extLst>
          </p:cNvPr>
          <p:cNvSpPr txBox="1"/>
          <p:nvPr/>
        </p:nvSpPr>
        <p:spPr>
          <a:xfrm>
            <a:off x="723900" y="4214216"/>
            <a:ext cx="10744200" cy="737870"/>
          </a:xfrm>
          <a:prstGeom prst="rect">
            <a:avLst/>
          </a:prstGeom>
          <a:noFill/>
        </p:spPr>
        <p:txBody>
          <a:bodyPr vert="horz" wrap="square" lIns="0" tIns="0" rIns="0" bIns="0" rtlCol="0">
            <a:noAutofit/>
          </a:bodyPr>
          <a:lstStyle/>
          <a:p>
            <a:pPr>
              <a:lnSpc>
                <a:spcPts val="2875"/>
              </a:lnSpc>
            </a:pPr>
            <a:r>
              <a:rPr lang="en-US" sz="2025">
                <a:solidFill>
                  <a:srgbClr val="20352B"/>
                </a:solidFill>
                <a:latin typeface="&quot;Segoe UI&quot;"/>
              </a:rPr>
              <a:t>24 training programs and 7 held-out programs per strategy. StandardScaler and Ridge regression with alpha 1.</a:t>
            </a:r>
            <a:endParaRPr lang="en-IN" sz="2025">
              <a:solidFill>
                <a:srgbClr val="20352B"/>
              </a:solidFill>
              <a:latin typeface="&quot;Segoe UI&quot;"/>
            </a:endParaRPr>
          </a:p>
        </p:txBody>
      </p:sp>
      <p:sp>
        <p:nvSpPr>
          <p:cNvPr id="5" name="Text 4">
            <a:extLst>
              <a:ext uri="{FF2B5EF4-FFF2-40B4-BE49-F238E27FC236}">
                <a16:creationId xmlns:a16="http://schemas.microsoft.com/office/drawing/2014/main" id="{84F0FA3D-2916-2E97-F744-AD32D828FD5A}"/>
              </a:ext>
            </a:extLst>
          </p:cNvPr>
          <p:cNvSpPr txBox="1"/>
          <p:nvPr/>
        </p:nvSpPr>
        <p:spPr>
          <a:xfrm>
            <a:off x="723900" y="5172968"/>
            <a:ext cx="10744200" cy="311849"/>
          </a:xfrm>
          <a:prstGeom prst="rect">
            <a:avLst/>
          </a:prstGeom>
          <a:noFill/>
        </p:spPr>
        <p:txBody>
          <a:bodyPr vert="horz" wrap="square" lIns="0" tIns="0" rIns="0" bIns="0" rtlCol="0">
            <a:noAutofit/>
          </a:bodyPr>
          <a:lstStyle/>
          <a:p>
            <a:pPr>
              <a:lnSpc>
                <a:spcPts val="2415"/>
              </a:lnSpc>
            </a:pPr>
            <a:r>
              <a:rPr lang="en-US" sz="1725" b="1">
                <a:solidFill>
                  <a:srgbClr val="8B3C1C"/>
                </a:solidFill>
                <a:latin typeface="&quot;Segoe UI&quot;"/>
              </a:rPr>
              <a:t>Every fit loses to the training-mean reference. Treat runtime predictions as exploratory.</a:t>
            </a:r>
            <a:endParaRPr lang="en-IN" sz="1725" b="1">
              <a:solidFill>
                <a:srgbClr val="8B3C1C"/>
              </a:solidFill>
              <a:latin typeface="&quot;Segoe UI&quot;"/>
            </a:endParaRPr>
          </a:p>
        </p:txBody>
      </p:sp>
      <p:sp>
        <p:nvSpPr>
          <p:cNvPr id="6" name="Text 5">
            <a:extLst>
              <a:ext uri="{FF2B5EF4-FFF2-40B4-BE49-F238E27FC236}">
                <a16:creationId xmlns:a16="http://schemas.microsoft.com/office/drawing/2014/main" id="{3E56BFCE-B5A2-1C1E-B49C-1E15D120017D}"/>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07 / 12</a:t>
            </a:r>
          </a:p>
        </p:txBody>
      </p:sp>
    </p:spTree>
    <p:extLst>
      <p:ext uri="{BB962C8B-B14F-4D97-AF65-F5344CB8AC3E}">
        <p14:creationId xmlns:p14="http://schemas.microsoft.com/office/powerpoint/2010/main" val="219339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D0C76FB7-001A-EFE4-45A6-8FCCFDC035AE}"/>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US" sz="3225" b="1">
                <a:solidFill>
                  <a:srgbClr val="20352B"/>
                </a:solidFill>
                <a:latin typeface="&quot;Segoe UI&quot;"/>
              </a:rPr>
              <a:t>Execution count changes the decision</a:t>
            </a:r>
            <a:endParaRPr lang="en-IN" sz="3225" b="1">
              <a:solidFill>
                <a:srgbClr val="20352B"/>
              </a:solidFill>
              <a:latin typeface="&quot;Segoe UI&quot;"/>
            </a:endParaRPr>
          </a:p>
        </p:txBody>
      </p:sp>
      <p:graphicFrame>
        <p:nvGraphicFramePr>
          <p:cNvPr id="3" name="Table 2">
            <a:extLst>
              <a:ext uri="{FF2B5EF4-FFF2-40B4-BE49-F238E27FC236}">
                <a16:creationId xmlns:a16="http://schemas.microsoft.com/office/drawing/2014/main" id="{84E61067-046B-ACF8-4AE3-D6E7D43CB4D9}"/>
              </a:ext>
            </a:extLst>
          </p:cNvPr>
          <p:cNvGraphicFramePr>
            <a:graphicFrameLocks noGrp="1"/>
          </p:cNvGraphicFramePr>
          <p:nvPr>
            <p:extLst>
              <p:ext uri="{D42A27DB-BD31-4B8C-83A1-F6EECF244321}">
                <p14:modId xmlns:p14="http://schemas.microsoft.com/office/powerpoint/2010/main" val="2463160534"/>
              </p:ext>
            </p:extLst>
          </p:nvPr>
        </p:nvGraphicFramePr>
        <p:xfrm>
          <a:off x="723900" y="1423392"/>
          <a:ext cx="10744200" cy="2505075"/>
        </p:xfrm>
        <a:graphic>
          <a:graphicData uri="http://schemas.openxmlformats.org/drawingml/2006/table">
            <a:tbl>
              <a:tblPr firstRow="1" bandRow="1">
                <a:tableStyleId>{5C22544A-7EE6-4342-B048-85BDC9FD1C3A}</a:tableStyleId>
              </a:tblPr>
              <a:tblGrid>
                <a:gridCol w="3560267">
                  <a:extLst>
                    <a:ext uri="{9D8B030D-6E8A-4147-A177-3AD203B41FA5}">
                      <a16:colId xmlns:a16="http://schemas.microsoft.com/office/drawing/2014/main" val="286472683"/>
                    </a:ext>
                  </a:extLst>
                </a:gridCol>
                <a:gridCol w="2046536">
                  <a:extLst>
                    <a:ext uri="{9D8B030D-6E8A-4147-A177-3AD203B41FA5}">
                      <a16:colId xmlns:a16="http://schemas.microsoft.com/office/drawing/2014/main" val="2916770423"/>
                    </a:ext>
                  </a:extLst>
                </a:gridCol>
                <a:gridCol w="2084338">
                  <a:extLst>
                    <a:ext uri="{9D8B030D-6E8A-4147-A177-3AD203B41FA5}">
                      <a16:colId xmlns:a16="http://schemas.microsoft.com/office/drawing/2014/main" val="2553555275"/>
                    </a:ext>
                  </a:extLst>
                </a:gridCol>
                <a:gridCol w="3053060">
                  <a:extLst>
                    <a:ext uri="{9D8B030D-6E8A-4147-A177-3AD203B41FA5}">
                      <a16:colId xmlns:a16="http://schemas.microsoft.com/office/drawing/2014/main" val="1147173103"/>
                    </a:ext>
                  </a:extLst>
                </a:gridCol>
              </a:tblGrid>
              <a:tr h="609600">
                <a:tc>
                  <a:txBody>
                    <a:bodyPr/>
                    <a:lstStyle/>
                    <a:p>
                      <a:pPr>
                        <a:spcBef>
                          <a:spcPts val="0"/>
                        </a:spcBef>
                        <a:spcAft>
                          <a:spcPts val="0"/>
                        </a:spcAft>
                      </a:pPr>
                      <a:r>
                        <a:rPr lang="en-IN" sz="1875" b="1">
                          <a:solidFill>
                            <a:srgbClr val="205D40"/>
                          </a:solidFill>
                          <a:latin typeface="&quot;Segoe UI&quot;"/>
                        </a:rPr>
                        <a:t>Expected executions</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Compile CI</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Runtime CI</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Selected strategy</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extLst>
                  <a:ext uri="{0D108BD9-81ED-4DB2-BD59-A6C34878D82A}">
                    <a16:rowId xmlns:a16="http://schemas.microsoft.com/office/drawing/2014/main" val="4155580409"/>
                  </a:ext>
                </a:extLst>
              </a:tr>
              <a:tr h="633413">
                <a:tc>
                  <a:txBody>
                    <a:bodyPr/>
                    <a:lstStyle/>
                    <a:p>
                      <a:pPr>
                        <a:spcBef>
                          <a:spcPts val="0"/>
                        </a:spcBef>
                        <a:spcAft>
                          <a:spcPts val="0"/>
                        </a:spcAft>
                      </a:pPr>
                      <a:r>
                        <a:rPr lang="en-IN" sz="1875" b="0">
                          <a:solidFill>
                            <a:srgbClr val="20352B"/>
                          </a:solidFill>
                          <a:latin typeface="&quot;Segoe UI&quot;"/>
                        </a:rPr>
                        <a:t>1</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700</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200</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baseline</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extLst>
                  <a:ext uri="{0D108BD9-81ED-4DB2-BD59-A6C34878D82A}">
                    <a16:rowId xmlns:a16="http://schemas.microsoft.com/office/drawing/2014/main" val="1873230993"/>
                  </a:ext>
                </a:extLst>
              </a:tr>
              <a:tr h="628650">
                <a:tc>
                  <a:txBody>
                    <a:bodyPr/>
                    <a:lstStyle/>
                    <a:p>
                      <a:pPr>
                        <a:spcBef>
                          <a:spcPts val="0"/>
                        </a:spcBef>
                        <a:spcAft>
                          <a:spcPts val="0"/>
                        </a:spcAft>
                      </a:pPr>
                      <a:r>
                        <a:rPr lang="en-IN" sz="1875" b="0">
                          <a:solidFill>
                            <a:srgbClr val="20352B"/>
                          </a:solidFill>
                          <a:latin typeface="&quot;Segoe UI&quot;"/>
                        </a:rPr>
                        <a:t>3</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700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200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lightweight</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887374360"/>
                  </a:ext>
                </a:extLst>
              </a:tr>
              <a:tr h="628650">
                <a:tc>
                  <a:txBody>
                    <a:bodyPr/>
                    <a:lstStyle/>
                    <a:p>
                      <a:pPr>
                        <a:spcBef>
                          <a:spcPts val="0"/>
                        </a:spcBef>
                        <a:spcAft>
                          <a:spcPts val="0"/>
                        </a:spcAft>
                      </a:pPr>
                      <a:r>
                        <a:rPr lang="en-IN" sz="1875" b="0">
                          <a:solidFill>
                            <a:srgbClr val="20352B"/>
                          </a:solidFill>
                          <a:latin typeface="&quot;Segoe UI&quot;"/>
                        </a:rPr>
                        <a:t>10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700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200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dag</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1049106125"/>
                  </a:ext>
                </a:extLst>
              </a:tr>
            </a:tbl>
          </a:graphicData>
        </a:graphic>
      </p:graphicFrame>
      <p:sp>
        <p:nvSpPr>
          <p:cNvPr id="4" name="Text 3">
            <a:extLst>
              <a:ext uri="{FF2B5EF4-FFF2-40B4-BE49-F238E27FC236}">
                <a16:creationId xmlns:a16="http://schemas.microsoft.com/office/drawing/2014/main" id="{6ECFC2AA-726D-0EB3-763A-F99006024513}"/>
              </a:ext>
            </a:extLst>
          </p:cNvPr>
          <p:cNvSpPr txBox="1"/>
          <p:nvPr/>
        </p:nvSpPr>
        <p:spPr>
          <a:xfrm>
            <a:off x="723900" y="4214216"/>
            <a:ext cx="10744200" cy="369570"/>
          </a:xfrm>
          <a:prstGeom prst="rect">
            <a:avLst/>
          </a:prstGeom>
          <a:noFill/>
        </p:spPr>
        <p:txBody>
          <a:bodyPr vert="horz" wrap="square" lIns="0" tIns="0" rIns="0" bIns="0" rtlCol="0">
            <a:noAutofit/>
          </a:bodyPr>
          <a:lstStyle/>
          <a:p>
            <a:pPr>
              <a:lnSpc>
                <a:spcPts val="2875"/>
              </a:lnSpc>
            </a:pPr>
            <a:r>
              <a:rPr lang="en-US" sz="2025">
                <a:solidFill>
                  <a:srgbClr val="20352B"/>
                </a:solidFill>
                <a:latin typeface="&quot;Segoe UI&quot;"/>
              </a:rPr>
              <a:t>Same source, same carbon intensities and a 10% predicted runtime limit.</a:t>
            </a:r>
            <a:endParaRPr lang="en-IN" sz="2025">
              <a:solidFill>
                <a:srgbClr val="20352B"/>
              </a:solidFill>
              <a:latin typeface="&quot;Segoe UI&quot;"/>
            </a:endParaRPr>
          </a:p>
        </p:txBody>
      </p:sp>
      <p:sp>
        <p:nvSpPr>
          <p:cNvPr id="5" name="Text 4">
            <a:extLst>
              <a:ext uri="{FF2B5EF4-FFF2-40B4-BE49-F238E27FC236}">
                <a16:creationId xmlns:a16="http://schemas.microsoft.com/office/drawing/2014/main" id="{0001B428-1DD0-AD93-B25F-0D7C0FCEEB41}"/>
              </a:ext>
            </a:extLst>
          </p:cNvPr>
          <p:cNvSpPr txBox="1"/>
          <p:nvPr/>
        </p:nvSpPr>
        <p:spPr>
          <a:xfrm>
            <a:off x="723900" y="4807893"/>
            <a:ext cx="10744200" cy="311849"/>
          </a:xfrm>
          <a:prstGeom prst="rect">
            <a:avLst/>
          </a:prstGeom>
          <a:noFill/>
        </p:spPr>
        <p:txBody>
          <a:bodyPr vert="horz" wrap="square" lIns="0" tIns="0" rIns="0" bIns="0" rtlCol="0">
            <a:noAutofit/>
          </a:bodyPr>
          <a:lstStyle/>
          <a:p>
            <a:pPr>
              <a:lnSpc>
                <a:spcPts val="2415"/>
              </a:lnSpc>
            </a:pPr>
            <a:r>
              <a:rPr lang="en-US" sz="1725" b="1">
                <a:solidFill>
                  <a:srgbClr val="8B3C1C"/>
                </a:solidFill>
                <a:latin typeface="&quot;Segoe UI&quot;"/>
              </a:rPr>
              <a:t>Fitted runtime model with proxy energy. No measured carbon-saving claim.</a:t>
            </a:r>
            <a:endParaRPr lang="en-IN" sz="1725" b="1">
              <a:solidFill>
                <a:srgbClr val="8B3C1C"/>
              </a:solidFill>
              <a:latin typeface="&quot;Segoe UI&quot;"/>
            </a:endParaRPr>
          </a:p>
        </p:txBody>
      </p:sp>
      <p:sp>
        <p:nvSpPr>
          <p:cNvPr id="6" name="Text 5">
            <a:extLst>
              <a:ext uri="{FF2B5EF4-FFF2-40B4-BE49-F238E27FC236}">
                <a16:creationId xmlns:a16="http://schemas.microsoft.com/office/drawing/2014/main" id="{07E7AAAB-EF39-B40A-AC1A-D3CF2C45F9BE}"/>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08 / 12</a:t>
            </a:r>
          </a:p>
        </p:txBody>
      </p:sp>
    </p:spTree>
    <p:extLst>
      <p:ext uri="{BB962C8B-B14F-4D97-AF65-F5344CB8AC3E}">
        <p14:creationId xmlns:p14="http://schemas.microsoft.com/office/powerpoint/2010/main" val="3308358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F220F030-5DCD-CCBB-4572-60CB75B86233}"/>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US" sz="3225" b="1">
                <a:solidFill>
                  <a:srgbClr val="20352B"/>
                </a:solidFill>
                <a:latin typeface="&quot;Segoe UI&quot;"/>
              </a:rPr>
              <a:t>Carbon intensity changes the decision</a:t>
            </a:r>
            <a:endParaRPr lang="en-IN" sz="3225" b="1">
              <a:solidFill>
                <a:srgbClr val="20352B"/>
              </a:solidFill>
              <a:latin typeface="&quot;Segoe UI&quot;"/>
            </a:endParaRPr>
          </a:p>
        </p:txBody>
      </p:sp>
      <p:graphicFrame>
        <p:nvGraphicFramePr>
          <p:cNvPr id="3" name="Table 2">
            <a:extLst>
              <a:ext uri="{FF2B5EF4-FFF2-40B4-BE49-F238E27FC236}">
                <a16:creationId xmlns:a16="http://schemas.microsoft.com/office/drawing/2014/main" id="{B08DE2FD-5998-5968-7B35-ECCAFAF9BEA6}"/>
              </a:ext>
            </a:extLst>
          </p:cNvPr>
          <p:cNvGraphicFramePr>
            <a:graphicFrameLocks noGrp="1"/>
          </p:cNvGraphicFramePr>
          <p:nvPr>
            <p:extLst>
              <p:ext uri="{D42A27DB-BD31-4B8C-83A1-F6EECF244321}">
                <p14:modId xmlns:p14="http://schemas.microsoft.com/office/powerpoint/2010/main" val="985169228"/>
              </p:ext>
            </p:extLst>
          </p:nvPr>
        </p:nvGraphicFramePr>
        <p:xfrm>
          <a:off x="723900" y="1423392"/>
          <a:ext cx="10744200" cy="3133725"/>
        </p:xfrm>
        <a:graphic>
          <a:graphicData uri="http://schemas.openxmlformats.org/drawingml/2006/table">
            <a:tbl>
              <a:tblPr firstRow="1" bandRow="1">
                <a:tableStyleId>{5C22544A-7EE6-4342-B048-85BDC9FD1C3A}</a:tableStyleId>
              </a:tblPr>
              <a:tblGrid>
                <a:gridCol w="3063925">
                  <a:extLst>
                    <a:ext uri="{9D8B030D-6E8A-4147-A177-3AD203B41FA5}">
                      <a16:colId xmlns:a16="http://schemas.microsoft.com/office/drawing/2014/main" val="2289489226"/>
                    </a:ext>
                  </a:extLst>
                </a:gridCol>
                <a:gridCol w="3120479">
                  <a:extLst>
                    <a:ext uri="{9D8B030D-6E8A-4147-A177-3AD203B41FA5}">
                      <a16:colId xmlns:a16="http://schemas.microsoft.com/office/drawing/2014/main" val="1825283280"/>
                    </a:ext>
                  </a:extLst>
                </a:gridCol>
                <a:gridCol w="4559796">
                  <a:extLst>
                    <a:ext uri="{9D8B030D-6E8A-4147-A177-3AD203B41FA5}">
                      <a16:colId xmlns:a16="http://schemas.microsoft.com/office/drawing/2014/main" val="501855832"/>
                    </a:ext>
                  </a:extLst>
                </a:gridCol>
              </a:tblGrid>
              <a:tr h="609600">
                <a:tc>
                  <a:txBody>
                    <a:bodyPr/>
                    <a:lstStyle/>
                    <a:p>
                      <a:pPr>
                        <a:spcBef>
                          <a:spcPts val="0"/>
                        </a:spcBef>
                        <a:spcAft>
                          <a:spcPts val="0"/>
                        </a:spcAft>
                      </a:pPr>
                      <a:r>
                        <a:rPr lang="en-IN" sz="1875" b="1">
                          <a:solidFill>
                            <a:srgbClr val="205D40"/>
                          </a:solidFill>
                          <a:latin typeface="&quot;Segoe UI&quot;"/>
                        </a:rPr>
                        <a:t>Compile CI</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Runtime CI</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Selected at N = 1</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extLst>
                  <a:ext uri="{0D108BD9-81ED-4DB2-BD59-A6C34878D82A}">
                    <a16:rowId xmlns:a16="http://schemas.microsoft.com/office/drawing/2014/main" val="283945535"/>
                  </a:ext>
                </a:extLst>
              </a:tr>
              <a:tr h="633413">
                <a:tc>
                  <a:txBody>
                    <a:bodyPr/>
                    <a:lstStyle/>
                    <a:p>
                      <a:pPr>
                        <a:spcBef>
                          <a:spcPts val="0"/>
                        </a:spcBef>
                        <a:spcAft>
                          <a:spcPts val="0"/>
                        </a:spcAft>
                      </a:pPr>
                      <a:r>
                        <a:rPr lang="en-IN" sz="1875" b="0">
                          <a:solidFill>
                            <a:srgbClr val="20352B"/>
                          </a:solidFill>
                          <a:latin typeface="&quot;Segoe UI&quot;"/>
                        </a:rPr>
                        <a:t>700</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200</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baseline</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extLst>
                  <a:ext uri="{0D108BD9-81ED-4DB2-BD59-A6C34878D82A}">
                    <a16:rowId xmlns:a16="http://schemas.microsoft.com/office/drawing/2014/main" val="329288496"/>
                  </a:ext>
                </a:extLst>
              </a:tr>
              <a:tr h="628650">
                <a:tc>
                  <a:txBody>
                    <a:bodyPr/>
                    <a:lstStyle/>
                    <a:p>
                      <a:pPr>
                        <a:spcBef>
                          <a:spcPts val="0"/>
                        </a:spcBef>
                        <a:spcAft>
                          <a:spcPts val="0"/>
                        </a:spcAft>
                      </a:pPr>
                      <a:r>
                        <a:rPr lang="en-IN" sz="1875" b="0">
                          <a:solidFill>
                            <a:srgbClr val="20352B"/>
                          </a:solidFill>
                          <a:latin typeface="&quot;Segoe UI&quot;"/>
                        </a:rPr>
                        <a:t>200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200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lightweight</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946720415"/>
                  </a:ext>
                </a:extLst>
              </a:tr>
              <a:tr h="628650">
                <a:tc>
                  <a:txBody>
                    <a:bodyPr/>
                    <a:lstStyle/>
                    <a:p>
                      <a:pPr>
                        <a:spcBef>
                          <a:spcPts val="0"/>
                        </a:spcBef>
                        <a:spcAft>
                          <a:spcPts val="0"/>
                        </a:spcAft>
                      </a:pPr>
                      <a:r>
                        <a:rPr lang="en-IN" sz="1875" b="0">
                          <a:solidFill>
                            <a:srgbClr val="20352B"/>
                          </a:solidFill>
                          <a:latin typeface="&quot;Segoe UI&quot;"/>
                        </a:rPr>
                        <a:t>700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700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lightweight</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1290468767"/>
                  </a:ext>
                </a:extLst>
              </a:tr>
              <a:tr h="628650">
                <a:tc>
                  <a:txBody>
                    <a:bodyPr/>
                    <a:lstStyle/>
                    <a:p>
                      <a:pPr>
                        <a:spcBef>
                          <a:spcPts val="0"/>
                        </a:spcBef>
                        <a:spcAft>
                          <a:spcPts val="0"/>
                        </a:spcAft>
                      </a:pPr>
                      <a:r>
                        <a:rPr lang="en-IN" sz="1875" b="0">
                          <a:solidFill>
                            <a:srgbClr val="20352B"/>
                          </a:solidFill>
                          <a:latin typeface="&quot;Segoe UI&quot;"/>
                        </a:rPr>
                        <a:t>200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700</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dag</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1422249528"/>
                  </a:ext>
                </a:extLst>
              </a:tr>
            </a:tbl>
          </a:graphicData>
        </a:graphic>
      </p:graphicFrame>
      <p:sp>
        <p:nvSpPr>
          <p:cNvPr id="4" name="Text 3">
            <a:extLst>
              <a:ext uri="{FF2B5EF4-FFF2-40B4-BE49-F238E27FC236}">
                <a16:creationId xmlns:a16="http://schemas.microsoft.com/office/drawing/2014/main" id="{D0A129F8-6A16-F558-0713-F4EE8F71C0B5}"/>
              </a:ext>
            </a:extLst>
          </p:cNvPr>
          <p:cNvSpPr txBox="1"/>
          <p:nvPr/>
        </p:nvSpPr>
        <p:spPr>
          <a:xfrm>
            <a:off x="723900" y="4842867"/>
            <a:ext cx="10744200" cy="275717"/>
          </a:xfrm>
          <a:prstGeom prst="rect">
            <a:avLst/>
          </a:prstGeom>
          <a:noFill/>
        </p:spPr>
        <p:txBody>
          <a:bodyPr vert="horz" wrap="square" lIns="0" tIns="0" rIns="0" bIns="0" rtlCol="0">
            <a:noAutofit/>
          </a:bodyPr>
          <a:lstStyle/>
          <a:p>
            <a:pPr>
              <a:lnSpc>
                <a:spcPts val="2100"/>
              </a:lnSpc>
            </a:pPr>
            <a:r>
              <a:rPr lang="en-US" sz="1500">
                <a:solidFill>
                  <a:srgbClr val="526559"/>
                </a:solidFill>
                <a:latin typeface="&quot;Segoe UI&quot;"/>
              </a:rPr>
              <a:t>Equal CI at 200/200 and 700/700 both select lightweight. Common scaling preserves rankings.</a:t>
            </a:r>
            <a:endParaRPr lang="en-IN" sz="1500">
              <a:solidFill>
                <a:srgbClr val="526559"/>
              </a:solidFill>
              <a:latin typeface="&quot;Segoe UI&quot;"/>
            </a:endParaRPr>
          </a:p>
        </p:txBody>
      </p:sp>
      <p:sp>
        <p:nvSpPr>
          <p:cNvPr id="5" name="Text 4">
            <a:extLst>
              <a:ext uri="{FF2B5EF4-FFF2-40B4-BE49-F238E27FC236}">
                <a16:creationId xmlns:a16="http://schemas.microsoft.com/office/drawing/2014/main" id="{20F19FC6-1CE7-4F6E-F1FC-E944DC0A9A2A}"/>
              </a:ext>
            </a:extLst>
          </p:cNvPr>
          <p:cNvSpPr txBox="1"/>
          <p:nvPr/>
        </p:nvSpPr>
        <p:spPr>
          <a:xfrm>
            <a:off x="723900" y="5338167"/>
            <a:ext cx="10744200" cy="311849"/>
          </a:xfrm>
          <a:prstGeom prst="rect">
            <a:avLst/>
          </a:prstGeom>
          <a:noFill/>
        </p:spPr>
        <p:txBody>
          <a:bodyPr vert="horz" wrap="square" lIns="0" tIns="0" rIns="0" bIns="0" rtlCol="0">
            <a:noAutofit/>
          </a:bodyPr>
          <a:lstStyle/>
          <a:p>
            <a:pPr>
              <a:lnSpc>
                <a:spcPts val="2415"/>
              </a:lnSpc>
            </a:pPr>
            <a:r>
              <a:rPr lang="en-US" sz="1725" b="1">
                <a:solidFill>
                  <a:srgbClr val="8B3C1C"/>
                </a:solidFill>
                <a:latin typeface="&quot;Segoe UI&quot;"/>
              </a:rPr>
              <a:t>Hypothetical CI in gCO2e/kWh. Energy and carbon remain proxies.</a:t>
            </a:r>
            <a:endParaRPr lang="en-IN" sz="1725" b="1">
              <a:solidFill>
                <a:srgbClr val="8B3C1C"/>
              </a:solidFill>
              <a:latin typeface="&quot;Segoe UI&quot;"/>
            </a:endParaRPr>
          </a:p>
        </p:txBody>
      </p:sp>
      <p:sp>
        <p:nvSpPr>
          <p:cNvPr id="6" name="Text 5">
            <a:extLst>
              <a:ext uri="{FF2B5EF4-FFF2-40B4-BE49-F238E27FC236}">
                <a16:creationId xmlns:a16="http://schemas.microsoft.com/office/drawing/2014/main" id="{C1B6B620-E3CB-C988-AF59-98EEC5B085B3}"/>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09 / 12</a:t>
            </a:r>
          </a:p>
        </p:txBody>
      </p:sp>
    </p:spTree>
    <p:extLst>
      <p:ext uri="{BB962C8B-B14F-4D97-AF65-F5344CB8AC3E}">
        <p14:creationId xmlns:p14="http://schemas.microsoft.com/office/powerpoint/2010/main" val="1884189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E4D04CEB-38D5-14F1-C111-65278266FEE8}"/>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US" sz="3225" b="1">
                <a:solidFill>
                  <a:srgbClr val="20352B"/>
                </a:solidFill>
                <a:latin typeface="&quot;Segoe UI&quot;"/>
              </a:rPr>
              <a:t>Evidence for the prototype review</a:t>
            </a:r>
            <a:endParaRPr lang="en-IN" sz="3225" b="1">
              <a:solidFill>
                <a:srgbClr val="20352B"/>
              </a:solidFill>
              <a:latin typeface="&quot;Segoe UI&quot;"/>
            </a:endParaRPr>
          </a:p>
        </p:txBody>
      </p:sp>
      <p:graphicFrame>
        <p:nvGraphicFramePr>
          <p:cNvPr id="3" name="Table 2">
            <a:extLst>
              <a:ext uri="{FF2B5EF4-FFF2-40B4-BE49-F238E27FC236}">
                <a16:creationId xmlns:a16="http://schemas.microsoft.com/office/drawing/2014/main" id="{983F6362-153B-EBD5-6B61-D57B153C08F9}"/>
              </a:ext>
            </a:extLst>
          </p:cNvPr>
          <p:cNvGraphicFramePr>
            <a:graphicFrameLocks noGrp="1"/>
          </p:cNvGraphicFramePr>
          <p:nvPr>
            <p:extLst>
              <p:ext uri="{D42A27DB-BD31-4B8C-83A1-F6EECF244321}">
                <p14:modId xmlns:p14="http://schemas.microsoft.com/office/powerpoint/2010/main" val="2657462411"/>
              </p:ext>
            </p:extLst>
          </p:nvPr>
        </p:nvGraphicFramePr>
        <p:xfrm>
          <a:off x="723900" y="1423392"/>
          <a:ext cx="10744200" cy="3133725"/>
        </p:xfrm>
        <a:graphic>
          <a:graphicData uri="http://schemas.openxmlformats.org/drawingml/2006/table">
            <a:tbl>
              <a:tblPr firstRow="1" bandRow="1">
                <a:tableStyleId>{5C22544A-7EE6-4342-B048-85BDC9FD1C3A}</a:tableStyleId>
              </a:tblPr>
              <a:tblGrid>
                <a:gridCol w="3589139">
                  <a:extLst>
                    <a:ext uri="{9D8B030D-6E8A-4147-A177-3AD203B41FA5}">
                      <a16:colId xmlns:a16="http://schemas.microsoft.com/office/drawing/2014/main" val="1859906446"/>
                    </a:ext>
                  </a:extLst>
                </a:gridCol>
                <a:gridCol w="7155061">
                  <a:extLst>
                    <a:ext uri="{9D8B030D-6E8A-4147-A177-3AD203B41FA5}">
                      <a16:colId xmlns:a16="http://schemas.microsoft.com/office/drawing/2014/main" val="2579552224"/>
                    </a:ext>
                  </a:extLst>
                </a:gridCol>
              </a:tblGrid>
              <a:tr h="609600">
                <a:tc>
                  <a:txBody>
                    <a:bodyPr/>
                    <a:lstStyle/>
                    <a:p>
                      <a:pPr>
                        <a:spcBef>
                          <a:spcPts val="0"/>
                        </a:spcBef>
                        <a:spcAft>
                          <a:spcPts val="0"/>
                        </a:spcAft>
                      </a:pPr>
                      <a:r>
                        <a:rPr lang="en-IN" sz="1875" b="1">
                          <a:solidFill>
                            <a:srgbClr val="205D40"/>
                          </a:solidFill>
                          <a:latin typeface="&quot;Segoe UI&quot;"/>
                        </a:rPr>
                        <a:t>Review area</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tc>
                  <a:txBody>
                    <a:bodyPr/>
                    <a:lstStyle/>
                    <a:p>
                      <a:pPr>
                        <a:spcBef>
                          <a:spcPts val="0"/>
                        </a:spcBef>
                        <a:spcAft>
                          <a:spcPts val="0"/>
                        </a:spcAft>
                      </a:pPr>
                      <a:r>
                        <a:rPr lang="en-IN" sz="1875" b="1">
                          <a:solidFill>
                            <a:srgbClr val="205D40"/>
                          </a:solidFill>
                          <a:latin typeface="&quot;Segoe UI&quot;"/>
                        </a:rPr>
                        <a:t>Evidence ready</a:t>
                      </a:r>
                    </a:p>
                  </a:txBody>
                  <a:tcPr marL="114300" marR="114300" marT="127000" marB="127000" anchor="ctr">
                    <a:lnL w="12700" cmpd="sng">
                      <a:solidFill>
                        <a:schemeClr val="lt1"/>
                      </a:solidFill>
                    </a:lnL>
                    <a:lnR w="12700" cmpd="sng">
                      <a:solidFill>
                        <a:schemeClr val="lt1"/>
                      </a:solidFill>
                    </a:lnR>
                    <a:lnT w="12700" cmpd="sng">
                      <a:solidFill>
                        <a:schemeClr val="lt1"/>
                      </a:solidFill>
                    </a:lnT>
                    <a:lnB w="19050" cmpd="sng">
                      <a:solidFill>
                        <a:srgbClr val="376A4D"/>
                      </a:solidFill>
                    </a:lnB>
                    <a:solidFill>
                      <a:srgbClr val="F5F7F2"/>
                    </a:solidFill>
                  </a:tcPr>
                </a:tc>
                <a:extLst>
                  <a:ext uri="{0D108BD9-81ED-4DB2-BD59-A6C34878D82A}">
                    <a16:rowId xmlns:a16="http://schemas.microsoft.com/office/drawing/2014/main" val="3995308078"/>
                  </a:ext>
                </a:extLst>
              </a:tr>
              <a:tr h="633413">
                <a:tc>
                  <a:txBody>
                    <a:bodyPr/>
                    <a:lstStyle/>
                    <a:p>
                      <a:pPr>
                        <a:spcBef>
                          <a:spcPts val="0"/>
                        </a:spcBef>
                        <a:spcAft>
                          <a:spcPts val="0"/>
                        </a:spcAft>
                      </a:pPr>
                      <a:r>
                        <a:rPr lang="en-IN" sz="1875" b="0">
                          <a:solidFill>
                            <a:srgbClr val="20352B"/>
                          </a:solidFill>
                          <a:latin typeface="&quot;Segoe UI&quot;"/>
                        </a:rPr>
                        <a:t>Implementation</a:t>
                      </a: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tc>
                  <a:txBody>
                    <a:bodyPr/>
                    <a:lstStyle/>
                    <a:p>
                      <a:pPr>
                        <a:spcBef>
                          <a:spcPts val="0"/>
                        </a:spcBef>
                        <a:spcAft>
                          <a:spcPts val="0"/>
                        </a:spcAft>
                      </a:pPr>
                      <a:r>
                        <a:rPr lang="en-US" sz="1875" b="0">
                          <a:solidFill>
                            <a:srgbClr val="20352B"/>
                          </a:solidFill>
                          <a:latin typeface="&quot;Segoe UI&quot;"/>
                        </a:rPr>
                        <a:t>Compiler, optimization, collection, fitting and selector</a:t>
                      </a:r>
                      <a:endParaRPr lang="en-IN" sz="1875" b="0">
                        <a:solidFill>
                          <a:srgbClr val="20352B"/>
                        </a:solidFill>
                        <a:latin typeface="&quot;Segoe UI&quot;"/>
                      </a:endParaRPr>
                    </a:p>
                  </a:txBody>
                  <a:tcPr marL="114300" marR="114300" marT="127000" marB="127000" anchor="ctr">
                    <a:lnL w="12700" cmpd="sng">
                      <a:solidFill>
                        <a:schemeClr val="lt1"/>
                      </a:solidFill>
                    </a:lnL>
                    <a:lnR w="12700" cmpd="sng">
                      <a:solidFill>
                        <a:schemeClr val="lt1"/>
                      </a:solidFill>
                    </a:lnR>
                    <a:lnT w="19050" cmpd="sng">
                      <a:solidFill>
                        <a:srgbClr val="376A4D"/>
                      </a:solidFill>
                    </a:lnT>
                    <a:lnB w="9525" cmpd="sng">
                      <a:solidFill>
                        <a:srgbClr val="C9D4C9"/>
                      </a:solidFill>
                    </a:lnB>
                    <a:solidFill>
                      <a:srgbClr val="F5F7F2"/>
                    </a:solidFill>
                  </a:tcPr>
                </a:tc>
                <a:extLst>
                  <a:ext uri="{0D108BD9-81ED-4DB2-BD59-A6C34878D82A}">
                    <a16:rowId xmlns:a16="http://schemas.microsoft.com/office/drawing/2014/main" val="1404556759"/>
                  </a:ext>
                </a:extLst>
              </a:tr>
              <a:tr h="628650">
                <a:tc>
                  <a:txBody>
                    <a:bodyPr/>
                    <a:lstStyle/>
                    <a:p>
                      <a:pPr>
                        <a:spcBef>
                          <a:spcPts val="0"/>
                        </a:spcBef>
                        <a:spcAft>
                          <a:spcPts val="0"/>
                        </a:spcAft>
                      </a:pPr>
                      <a:r>
                        <a:rPr lang="en-IN" sz="1875" b="0">
                          <a:solidFill>
                            <a:srgbClr val="20352B"/>
                          </a:solidFill>
                          <a:latin typeface="&quot;Segoe UI&quot;"/>
                        </a:rPr>
                        <a:t>Novelty</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US" sz="1875" b="0">
                          <a:solidFill>
                            <a:srgbClr val="20352B"/>
                          </a:solidFill>
                          <a:latin typeface="&quot;Segoe UI&quot;"/>
                        </a:rPr>
                        <a:t>Combined carbon objective and runtime constraint</a:t>
                      </a:r>
                      <a:endParaRPr lang="en-IN" sz="1875" b="0">
                        <a:solidFill>
                          <a:srgbClr val="20352B"/>
                        </a:solidFill>
                        <a:latin typeface="&quot;Segoe UI&quot;"/>
                      </a:endParaRP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2357753285"/>
                  </a:ext>
                </a:extLst>
              </a:tr>
              <a:tr h="628650">
                <a:tc>
                  <a:txBody>
                    <a:bodyPr/>
                    <a:lstStyle/>
                    <a:p>
                      <a:pPr>
                        <a:spcBef>
                          <a:spcPts val="0"/>
                        </a:spcBef>
                        <a:spcAft>
                          <a:spcPts val="0"/>
                        </a:spcAft>
                      </a:pPr>
                      <a:r>
                        <a:rPr lang="en-IN" sz="1875" b="0">
                          <a:solidFill>
                            <a:srgbClr val="20352B"/>
                          </a:solidFill>
                          <a:latin typeface="&quot;Segoe UI&quot;"/>
                        </a:rPr>
                        <a:t>Documentation</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US" sz="1875" b="0">
                          <a:solidFill>
                            <a:srgbClr val="20352B"/>
                          </a:solidFill>
                          <a:latin typeface="&quot;Segoe UI&quot;"/>
                        </a:rPr>
                        <a:t>Progress report, methods, data and commands</a:t>
                      </a:r>
                      <a:endParaRPr lang="en-IN" sz="1875" b="0">
                        <a:solidFill>
                          <a:srgbClr val="20352B"/>
                        </a:solidFill>
                        <a:latin typeface="&quot;Segoe UI&quot;"/>
                      </a:endParaRP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3055315892"/>
                  </a:ext>
                </a:extLst>
              </a:tr>
              <a:tr h="628650">
                <a:tc>
                  <a:txBody>
                    <a:bodyPr/>
                    <a:lstStyle/>
                    <a:p>
                      <a:pPr>
                        <a:spcBef>
                          <a:spcPts val="0"/>
                        </a:spcBef>
                        <a:spcAft>
                          <a:spcPts val="0"/>
                        </a:spcAft>
                      </a:pPr>
                      <a:r>
                        <a:rPr lang="en-US" sz="1875" b="0">
                          <a:solidFill>
                            <a:srgbClr val="20352B"/>
                          </a:solidFill>
                          <a:latin typeface="&quot;Segoe UI&quot;"/>
                        </a:rPr>
                        <a:t>Presentation and Q and A</a:t>
                      </a:r>
                      <a:endParaRPr lang="en-IN" sz="1875" b="0">
                        <a:solidFill>
                          <a:srgbClr val="20352B"/>
                        </a:solidFill>
                        <a:latin typeface="&quot;Segoe UI&quot;"/>
                      </a:endParaRP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tc>
                  <a:txBody>
                    <a:bodyPr/>
                    <a:lstStyle/>
                    <a:p>
                      <a:pPr>
                        <a:spcBef>
                          <a:spcPts val="0"/>
                        </a:spcBef>
                        <a:spcAft>
                          <a:spcPts val="0"/>
                        </a:spcAft>
                      </a:pPr>
                      <a:r>
                        <a:rPr lang="en-IN" sz="1875" b="0">
                          <a:solidFill>
                            <a:srgbClr val="20352B"/>
                          </a:solidFill>
                          <a:latin typeface="&quot;Segoe UI&quot;"/>
                        </a:rPr>
                        <a:t>Reproducible demos and explicit limitations</a:t>
                      </a:r>
                    </a:p>
                  </a:txBody>
                  <a:tcPr marL="114300" marR="114300" marT="127000" marB="127000" anchor="ctr">
                    <a:lnL w="12700" cmpd="sng">
                      <a:solidFill>
                        <a:schemeClr val="lt1"/>
                      </a:solidFill>
                    </a:lnL>
                    <a:lnR w="12700" cmpd="sng">
                      <a:solidFill>
                        <a:schemeClr val="lt1"/>
                      </a:solidFill>
                    </a:lnR>
                    <a:lnT w="9525" cmpd="sng">
                      <a:solidFill>
                        <a:srgbClr val="C9D4C9"/>
                      </a:solidFill>
                    </a:lnT>
                    <a:lnB w="9525" cmpd="sng">
                      <a:solidFill>
                        <a:srgbClr val="C9D4C9"/>
                      </a:solidFill>
                    </a:lnB>
                    <a:solidFill>
                      <a:srgbClr val="F5F7F2"/>
                    </a:solidFill>
                  </a:tcPr>
                </a:tc>
                <a:extLst>
                  <a:ext uri="{0D108BD9-81ED-4DB2-BD59-A6C34878D82A}">
                    <a16:rowId xmlns:a16="http://schemas.microsoft.com/office/drawing/2014/main" val="1254121859"/>
                  </a:ext>
                </a:extLst>
              </a:tr>
            </a:tbl>
          </a:graphicData>
        </a:graphic>
      </p:graphicFrame>
      <p:sp>
        <p:nvSpPr>
          <p:cNvPr id="4" name="Text 3">
            <a:extLst>
              <a:ext uri="{FF2B5EF4-FFF2-40B4-BE49-F238E27FC236}">
                <a16:creationId xmlns:a16="http://schemas.microsoft.com/office/drawing/2014/main" id="{53DF0602-85BA-CECB-E41B-E3CD2ED55027}"/>
              </a:ext>
            </a:extLst>
          </p:cNvPr>
          <p:cNvSpPr txBox="1"/>
          <p:nvPr/>
        </p:nvSpPr>
        <p:spPr>
          <a:xfrm>
            <a:off x="723900" y="4842866"/>
            <a:ext cx="10744200" cy="369570"/>
          </a:xfrm>
          <a:prstGeom prst="rect">
            <a:avLst/>
          </a:prstGeom>
          <a:noFill/>
        </p:spPr>
        <p:txBody>
          <a:bodyPr vert="horz" wrap="square" lIns="0" tIns="0" rIns="0" bIns="0" rtlCol="0">
            <a:noAutofit/>
          </a:bodyPr>
          <a:lstStyle/>
          <a:p>
            <a:pPr>
              <a:lnSpc>
                <a:spcPts val="2875"/>
              </a:lnSpc>
            </a:pPr>
            <a:r>
              <a:rPr lang="en-US" sz="2025">
                <a:solidFill>
                  <a:srgbClr val="20352B"/>
                </a:solidFill>
                <a:latin typeface="&quot;Segoe UI&quot;"/>
              </a:rPr>
              <a:t>Build and C++ tests pass. Six Python regression and evidence tests pass.</a:t>
            </a:r>
            <a:endParaRPr lang="en-IN" sz="2025">
              <a:solidFill>
                <a:srgbClr val="20352B"/>
              </a:solidFill>
              <a:latin typeface="&quot;Segoe UI&quot;"/>
            </a:endParaRPr>
          </a:p>
        </p:txBody>
      </p:sp>
      <p:sp>
        <p:nvSpPr>
          <p:cNvPr id="5" name="Text 4">
            <a:extLst>
              <a:ext uri="{FF2B5EF4-FFF2-40B4-BE49-F238E27FC236}">
                <a16:creationId xmlns:a16="http://schemas.microsoft.com/office/drawing/2014/main" id="{8E59FD83-B5BD-8DD6-00BE-F3129DFBD162}"/>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10 / 12</a:t>
            </a:r>
          </a:p>
        </p:txBody>
      </p:sp>
    </p:spTree>
    <p:extLst>
      <p:ext uri="{BB962C8B-B14F-4D97-AF65-F5344CB8AC3E}">
        <p14:creationId xmlns:p14="http://schemas.microsoft.com/office/powerpoint/2010/main" val="3161554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6661602B-EC18-56BA-77E6-2A9BA2759B64}"/>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IN" sz="3225" b="1">
                <a:solidFill>
                  <a:srgbClr val="20352B"/>
                </a:solidFill>
                <a:latin typeface="&quot;Segoe UI&quot;"/>
              </a:rPr>
              <a:t>Limitations and remaining work</a:t>
            </a:r>
          </a:p>
        </p:txBody>
      </p:sp>
      <p:sp>
        <p:nvSpPr>
          <p:cNvPr id="3" name="Text 2">
            <a:extLst>
              <a:ext uri="{FF2B5EF4-FFF2-40B4-BE49-F238E27FC236}">
                <a16:creationId xmlns:a16="http://schemas.microsoft.com/office/drawing/2014/main" id="{EDDC42D9-EE73-24D0-A11F-6A3C5B6CD7C8}"/>
              </a:ext>
            </a:extLst>
          </p:cNvPr>
          <p:cNvSpPr txBox="1"/>
          <p:nvPr/>
        </p:nvSpPr>
        <p:spPr>
          <a:xfrm>
            <a:off x="762000" y="1423392"/>
            <a:ext cx="10706100" cy="386655"/>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1. Runtime accuracy Add execution-sensitive features and broader validation.</a:t>
            </a:r>
            <a:endParaRPr lang="en-IN" sz="2100">
              <a:solidFill>
                <a:srgbClr val="20352B"/>
              </a:solidFill>
              <a:latin typeface="&quot;Segoe UI&quot;"/>
            </a:endParaRPr>
          </a:p>
        </p:txBody>
      </p:sp>
      <p:sp>
        <p:nvSpPr>
          <p:cNvPr id="4" name="Text 3">
            <a:extLst>
              <a:ext uri="{FF2B5EF4-FFF2-40B4-BE49-F238E27FC236}">
                <a16:creationId xmlns:a16="http://schemas.microsoft.com/office/drawing/2014/main" id="{B9B02002-208B-73F7-74CA-D0A9F77AE6BB}"/>
              </a:ext>
            </a:extLst>
          </p:cNvPr>
          <p:cNvSpPr txBox="1"/>
          <p:nvPr/>
        </p:nvSpPr>
        <p:spPr>
          <a:xfrm>
            <a:off x="762000" y="2000548"/>
            <a:ext cx="10706100" cy="386655"/>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2. Physical energy Collect and calibrate real compile and runtime energy.</a:t>
            </a:r>
            <a:endParaRPr lang="en-IN" sz="2100">
              <a:solidFill>
                <a:srgbClr val="20352B"/>
              </a:solidFill>
              <a:latin typeface="&quot;Segoe UI&quot;"/>
            </a:endParaRPr>
          </a:p>
        </p:txBody>
      </p:sp>
      <p:sp>
        <p:nvSpPr>
          <p:cNvPr id="5" name="Text 4">
            <a:extLst>
              <a:ext uri="{FF2B5EF4-FFF2-40B4-BE49-F238E27FC236}">
                <a16:creationId xmlns:a16="http://schemas.microsoft.com/office/drawing/2014/main" id="{D07D2931-3539-5836-B89D-8F95189B4157}"/>
              </a:ext>
            </a:extLst>
          </p:cNvPr>
          <p:cNvSpPr txBox="1"/>
          <p:nvPr/>
        </p:nvSpPr>
        <p:spPr>
          <a:xfrm>
            <a:off x="762000" y="2577703"/>
            <a:ext cx="10706100" cy="386655"/>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3. Policy comparison Measure adaptive versus fixed choices, including selector overhead.</a:t>
            </a:r>
            <a:endParaRPr lang="en-IN" sz="2100">
              <a:solidFill>
                <a:srgbClr val="20352B"/>
              </a:solidFill>
              <a:latin typeface="&quot;Segoe UI&quot;"/>
            </a:endParaRPr>
          </a:p>
        </p:txBody>
      </p:sp>
      <p:sp>
        <p:nvSpPr>
          <p:cNvPr id="6" name="Text 5">
            <a:extLst>
              <a:ext uri="{FF2B5EF4-FFF2-40B4-BE49-F238E27FC236}">
                <a16:creationId xmlns:a16="http://schemas.microsoft.com/office/drawing/2014/main" id="{EA3BABC9-5486-E605-83F7-EC1154E29298}"/>
              </a:ext>
            </a:extLst>
          </p:cNvPr>
          <p:cNvSpPr txBox="1"/>
          <p:nvPr/>
        </p:nvSpPr>
        <p:spPr>
          <a:xfrm>
            <a:off x="762000" y="3154859"/>
            <a:ext cx="10706100" cy="773311"/>
          </a:xfrm>
          <a:prstGeom prst="rect">
            <a:avLst/>
          </a:prstGeom>
          <a:noFill/>
        </p:spPr>
        <p:txBody>
          <a:bodyPr vert="horz" wrap="square" lIns="0" tIns="0" rIns="0" bIns="0" rtlCol="0">
            <a:noAutofit/>
          </a:bodyPr>
          <a:lstStyle/>
          <a:p>
            <a:pPr>
              <a:lnSpc>
                <a:spcPts val="3045"/>
              </a:lnSpc>
            </a:pPr>
            <a:r>
              <a:rPr lang="en-US" sz="2100">
                <a:solidFill>
                  <a:srgbClr val="20352B"/>
                </a:solidFill>
                <a:latin typeface="&quot;Segoe UI&quot;"/>
              </a:rPr>
              <a:t>4. Correctness and novelty Expand semantic tests and complete the literature comparison.</a:t>
            </a:r>
            <a:endParaRPr lang="en-IN" sz="2100">
              <a:solidFill>
                <a:srgbClr val="20352B"/>
              </a:solidFill>
              <a:latin typeface="&quot;Segoe UI&quot;"/>
            </a:endParaRPr>
          </a:p>
        </p:txBody>
      </p:sp>
      <p:sp>
        <p:nvSpPr>
          <p:cNvPr id="7" name="Text 6">
            <a:extLst>
              <a:ext uri="{FF2B5EF4-FFF2-40B4-BE49-F238E27FC236}">
                <a16:creationId xmlns:a16="http://schemas.microsoft.com/office/drawing/2014/main" id="{8886D1CF-3F18-10A9-9B5A-43931ECBBE00}"/>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11 / 12</a:t>
            </a:r>
          </a:p>
        </p:txBody>
      </p:sp>
    </p:spTree>
    <p:extLst>
      <p:ext uri="{BB962C8B-B14F-4D97-AF65-F5344CB8AC3E}">
        <p14:creationId xmlns:p14="http://schemas.microsoft.com/office/powerpoint/2010/main" val="2557069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2"/>
        </a:solidFill>
        <a:effectLst/>
      </p:bgPr>
    </p:bg>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9E916F9A-DCB6-FF0E-44A4-6B481CCDFDE7}"/>
              </a:ext>
            </a:extLst>
          </p:cNvPr>
          <p:cNvSpPr txBox="1"/>
          <p:nvPr/>
        </p:nvSpPr>
        <p:spPr>
          <a:xfrm>
            <a:off x="723900" y="590549"/>
            <a:ext cx="10744200" cy="495300"/>
          </a:xfrm>
          <a:prstGeom prst="rect">
            <a:avLst/>
          </a:prstGeom>
          <a:noFill/>
        </p:spPr>
        <p:txBody>
          <a:bodyPr vert="horz" wrap="square" lIns="0" tIns="0" rIns="0" bIns="0" rtlCol="0">
            <a:noAutofit/>
          </a:bodyPr>
          <a:lstStyle/>
          <a:p>
            <a:pPr>
              <a:lnSpc>
                <a:spcPts val="3709"/>
              </a:lnSpc>
            </a:pPr>
            <a:r>
              <a:rPr lang="en-IN" sz="3225" b="1">
                <a:solidFill>
                  <a:srgbClr val="20352B"/>
                </a:solidFill>
                <a:latin typeface="&quot;Segoe UI&quot;"/>
              </a:rPr>
              <a:t>Live demonstration and questions</a:t>
            </a:r>
          </a:p>
        </p:txBody>
      </p:sp>
      <p:sp>
        <p:nvSpPr>
          <p:cNvPr id="3" name="Text 2">
            <a:extLst>
              <a:ext uri="{FF2B5EF4-FFF2-40B4-BE49-F238E27FC236}">
                <a16:creationId xmlns:a16="http://schemas.microsoft.com/office/drawing/2014/main" id="{6B2305E4-6D73-DBCC-5766-C7F21DB40D1A}"/>
              </a:ext>
            </a:extLst>
          </p:cNvPr>
          <p:cNvSpPr txBox="1"/>
          <p:nvPr/>
        </p:nvSpPr>
        <p:spPr>
          <a:xfrm>
            <a:off x="723900" y="1423391"/>
            <a:ext cx="10744200" cy="1861840"/>
          </a:xfrm>
          <a:prstGeom prst="rect">
            <a:avLst/>
          </a:prstGeom>
          <a:noFill/>
        </p:spPr>
        <p:txBody>
          <a:bodyPr vert="horz" wrap="square" lIns="0" tIns="0" rIns="0" bIns="0" rtlCol="0">
            <a:noAutofit/>
          </a:bodyPr>
          <a:lstStyle/>
          <a:p>
            <a:pPr>
              <a:lnSpc>
                <a:spcPts val="2933"/>
              </a:lnSpc>
            </a:pPr>
            <a:r>
              <a:rPr lang="en-IN" sz="1725">
                <a:solidFill>
                  <a:srgbClr val="20352B"/>
                </a:solidFill>
                <a:latin typeface="Consolas" panose="020B0609020204030204" pitchFamily="49" charset="0"/>
              </a:rPr>
              <a:t>python run.py demo
python run.py adaptive-demo
python run.py green benchmarks/cse.c `
  --compile-ci 700 --runtime-ci 200 --executions 3</a:t>
            </a:r>
          </a:p>
        </p:txBody>
      </p:sp>
      <p:sp>
        <p:nvSpPr>
          <p:cNvPr id="4" name="Text 3">
            <a:extLst>
              <a:ext uri="{FF2B5EF4-FFF2-40B4-BE49-F238E27FC236}">
                <a16:creationId xmlns:a16="http://schemas.microsoft.com/office/drawing/2014/main" id="{03995F18-4689-5852-E898-07CAE37BB52A}"/>
              </a:ext>
            </a:extLst>
          </p:cNvPr>
          <p:cNvSpPr txBox="1"/>
          <p:nvPr/>
        </p:nvSpPr>
        <p:spPr>
          <a:xfrm>
            <a:off x="723900" y="3685282"/>
            <a:ext cx="10744200" cy="398653"/>
          </a:xfrm>
          <a:prstGeom prst="rect">
            <a:avLst/>
          </a:prstGeom>
          <a:noFill/>
        </p:spPr>
        <p:txBody>
          <a:bodyPr vert="horz" wrap="square" lIns="0" tIns="0" rIns="0" bIns="0" rtlCol="0">
            <a:noAutofit/>
          </a:bodyPr>
          <a:lstStyle/>
          <a:p>
            <a:pPr>
              <a:lnSpc>
                <a:spcPts val="3139"/>
              </a:lnSpc>
            </a:pPr>
            <a:r>
              <a:rPr lang="en-US" sz="2325">
                <a:solidFill>
                  <a:srgbClr val="20352B"/>
                </a:solidFill>
                <a:latin typeface="&quot;Segoe UI&quot;"/>
              </a:rPr>
              <a:t>Working prototype with transparent evidence</a:t>
            </a:r>
            <a:endParaRPr lang="en-IN" sz="2325">
              <a:solidFill>
                <a:srgbClr val="20352B"/>
              </a:solidFill>
              <a:latin typeface="&quot;Segoe UI&quot;"/>
            </a:endParaRPr>
          </a:p>
        </p:txBody>
      </p:sp>
      <p:sp>
        <p:nvSpPr>
          <p:cNvPr id="5" name="Text 4">
            <a:extLst>
              <a:ext uri="{FF2B5EF4-FFF2-40B4-BE49-F238E27FC236}">
                <a16:creationId xmlns:a16="http://schemas.microsoft.com/office/drawing/2014/main" id="{95B25014-7DCA-AB55-259E-3E59073D2EDB}"/>
              </a:ext>
            </a:extLst>
          </p:cNvPr>
          <p:cNvSpPr txBox="1"/>
          <p:nvPr/>
        </p:nvSpPr>
        <p:spPr>
          <a:xfrm>
            <a:off x="723900" y="4312443"/>
            <a:ext cx="10744200" cy="737870"/>
          </a:xfrm>
          <a:prstGeom prst="rect">
            <a:avLst/>
          </a:prstGeom>
          <a:noFill/>
        </p:spPr>
        <p:txBody>
          <a:bodyPr vert="horz" wrap="square" lIns="0" tIns="0" rIns="0" bIns="0" rtlCol="0">
            <a:noAutofit/>
          </a:bodyPr>
          <a:lstStyle/>
          <a:p>
            <a:pPr>
              <a:lnSpc>
                <a:spcPts val="2875"/>
              </a:lnSpc>
            </a:pPr>
            <a:r>
              <a:rPr lang="en-US" sz="2025">
                <a:solidFill>
                  <a:srgbClr val="20352B"/>
                </a:solidFill>
                <a:latin typeface="&quot;Segoe UI&quot;"/>
              </a:rPr>
              <a:t>Runtime fitting and adaptive behavior are demonstrated. Reliable prediction and measured carbon reduction remain research tasks.</a:t>
            </a:r>
            <a:endParaRPr lang="en-IN" sz="2025">
              <a:solidFill>
                <a:srgbClr val="20352B"/>
              </a:solidFill>
              <a:latin typeface="&quot;Segoe UI&quot;"/>
            </a:endParaRPr>
          </a:p>
        </p:txBody>
      </p:sp>
      <p:sp>
        <p:nvSpPr>
          <p:cNvPr id="6" name="Text 5">
            <a:extLst>
              <a:ext uri="{FF2B5EF4-FFF2-40B4-BE49-F238E27FC236}">
                <a16:creationId xmlns:a16="http://schemas.microsoft.com/office/drawing/2014/main" id="{EFAAE3AE-DA66-F581-8238-23C2008A03A0}"/>
              </a:ext>
            </a:extLst>
          </p:cNvPr>
          <p:cNvSpPr txBox="1"/>
          <p:nvPr/>
        </p:nvSpPr>
        <p:spPr>
          <a:xfrm>
            <a:off x="11357670" y="6419850"/>
            <a:ext cx="500955" cy="215900"/>
          </a:xfrm>
          <a:prstGeom prst="rect">
            <a:avLst/>
          </a:prstGeom>
          <a:noFill/>
        </p:spPr>
        <p:txBody>
          <a:bodyPr vert="horz" wrap="square" lIns="0" tIns="0" rIns="0" bIns="0" rtlCol="0">
            <a:noAutofit/>
          </a:bodyPr>
          <a:lstStyle/>
          <a:p>
            <a:pPr>
              <a:lnSpc>
                <a:spcPts val="1530"/>
              </a:lnSpc>
            </a:pPr>
            <a:r>
              <a:rPr lang="en-IN" sz="1275">
                <a:solidFill>
                  <a:srgbClr val="6C7D6F"/>
                </a:solidFill>
                <a:latin typeface="&quot;Segoe UI&quot;"/>
              </a:rPr>
              <a:t>12 / 12</a:t>
            </a:r>
          </a:p>
        </p:txBody>
      </p:sp>
    </p:spTree>
    <p:extLst>
      <p:ext uri="{BB962C8B-B14F-4D97-AF65-F5344CB8AC3E}">
        <p14:creationId xmlns:p14="http://schemas.microsoft.com/office/powerpoint/2010/main" val="692354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1287</Words>
  <Application>Microsoft Office PowerPoint</Application>
  <PresentationFormat>Custom</PresentationFormat>
  <Paragraphs>163</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"Segoe UI"</vt:lpstr>
      <vt:lpstr>Arial</vt:lpstr>
      <vt:lpstr>Calibri</vt:lpstr>
      <vt:lpstr>Calibri Light</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Lakshyajeet Narsinghani</dc:creator>
  <cp:lastModifiedBy>Lakshyajeet Narsinghani</cp:lastModifiedBy>
  <cp:revision>1</cp:revision>
  <dcterms:created xsi:type="dcterms:W3CDTF">2026-10-15T07:43:59Z</dcterms:created>
  <dcterms:modified xsi:type="dcterms:W3CDTF">2026-10-15T07:43:59Z</dcterms:modified>
</cp:coreProperties>
</file>