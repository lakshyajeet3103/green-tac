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271" r:id="rId44"/>
    <p:sldId id="272" r:id="rId45"/>
    <p:sldId id="273" r:id="rId46"/>
    <p:sldId id="274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9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name, reg no and guide placeholders. Repo: github.com/Lakshyajeet3103/Green-TAC (branch feature/intermediate-steps).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binary also supports: green_tac steps &lt;file&gt;. Final TAC matches python run.py tac benchmarks/cse.c --strategy 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 file: benchmarks/cse.c
if ((a &lt; b &amp;&amp; c != d) || (e &gt;= f &amp;&amp; (g &lt; h || p == q))) {
    result = result + 1;
} else {
    result = result - 1;
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1. Tokens
One row per source line. @column marks each token's position.
   1 |  if @1  ( @4  ( @5  a @6  &lt; @8  b @10  &amp;&amp; @12  c @15  != @17  d @20  ) @21  || @23  ( @26  e @27  &gt;= @29  f @32  &amp;&amp; @34  ( @37  g @38  &lt; @40  h @42  || @44  p @47  == @49  q @52  ) @53  ) @54  ) @55  { @57
   2 |  result @5  = @12  result @14  + @21  1 @23  ; @24
   3 |  } @1  else @3  { @8
   4 |  result @5  = @12  result @14  - @21  1 @23  ; @24
   5 |  } @1
  &lt;end&gt;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2. Abstract syntax tree
Read from the root down; operators connect their operands.
Program
`-- If
    |-- condition:
    |   `-- ||
    |       |-- &amp;&amp;
    |       |   |-- &lt;
    |       |   |   |-- a
    |       |   |   `-- b
    |       |   `-- !=
    |       |       |-- c
    |       |       `-- d
    |       `-- &amp;&amp;
    |           |-- &gt;=
    |           |   |-- e
    |           |   `-- f
    |           `-- ||
    |               |-- &lt;
    |               |   |-- g
    |               |   `-- h
    |               `-- ==
    |                   |-- p
    |                   `-- q
    |-- then:
    |   `-- Block
    |       `-- Assign result
    |           `-- +
    |               |-- result
    |               `-- 1
    `-- else:
        `-- Block
            `-- Assign result
                `-- -
                    |-- result
                    `-- 1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3. Baseline TAC
Each temporary holds one intermediate computation.
   1 | if a &lt; b goto L_rhs5
   2 | goto L_rhs4
   3 | L_rhs5:
   4 | if c != d goto L_then1
   5 | goto L_rhs4
   6 | L_rhs4:
   7 | if e &gt;= f goto L_rhs6
   8 | goto L_else3
   9 | L_rhs6:
  10 | if g &lt; h goto L_then1
  11 | goto L_rhs7
  12 | L_rhs7:
  13 | if p == q goto L_then1
  14 | goto L_else3
  15 | L_then1:
  16 | t1 = result + 1
  17 | result = t1
  18 | goto L_end2
  19 | L_else3:
  20 | t2 = result - 1
  21 | result = t2
  22 | L_end2: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4. Lightweight optimization
Before =&gt; After [reason]. Unchanged instructions remain visible.
   1. if a &lt; b goto L_rhs5  =&gt;  if a &lt; b goto L_rhs5  [unchanged]
   2. goto L_rhs4  =&gt;  goto L_rhs4  [unchanged]
   3. L_rhs5:  =&gt;  L_rhs5:  [unchanged]
   4. if c != d goto L_then1  =&gt;  if c != d goto L_then1  [unchanged]
   5. goto L_rhs4  =&gt;  goto L_rhs4  [unchanged]
   6. L_rhs4:  =&gt;  L_rhs4:  [unchanged]
   7. if e &gt;= f goto L_rhs6  =&gt;  if e &gt;= f goto L_rhs6  [unchanged]
   8. goto L_else3  =&gt;  goto L_else3  [unchanged]
   9. L_rhs6:  =&gt;  L_rhs6:  [unchanged]
  10. if g &lt; h goto L_then1  =&gt;  if g &lt; h goto L_then1  [unchanged]
  11. goto L_rhs7  =&gt;  goto L_rhs7  [unchanged]
  12. L_rhs7:  =&gt;  L_rhs7:  [unchanged]
  13. if p == q goto L_then1  =&gt;  if p == q goto L_then1  [unchanged]
  14. goto L_else3  =&gt;  goto L_else3  [unchanged]
  15. L_then1:  =&gt;  L_then1:  [unchanged]
  16. t1 = result + 1  =&gt;  t1 = result + 1  [unchanged]
  17. result = t1  =&gt;  result = t1  [unchanged]
  18. goto L_end2  =&gt;  goto L_end2  [unchanged]
  19. L_else3:  =&gt;  L_else3:  [unchanged]
  20. t2 = result - 1  =&gt;  t2 = result - 1  [unchanged]
  21. result = t2  =&gt;  result = t2  [unchanged]
  22. L_end2:  =&gt;  L_end2:  [unchanged]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5. Local DAG / common-subexpression elimination
Compute each expression once. Repeated node IDs share one result.
Legend: leaf = input value; lhs / rhs = left / right operand.
  Branch: if a &lt; b goto L_rhs5
  -- control flow closes this local DAG --
  Control: goto L_rhs4
  Control: L_rhs5:
  Branch: if c != d goto L_then1
  -- control flow closes this local DAG --
  Control: goto L_rhs4
  Control: L_rhs4:
  Branch: if e &gt;= f goto L_rhs6
  -- control flow closes this local DAG --
  Control: goto L_else3
  Control: L_rhs6:
  Branch: if g &lt; h goto L_then1
  -- control flow closes this local DAG --
  Control: goto L_rhs7
  Control: L_rhs7:
  Branch: if p == q goto L_then1
  -- control flow closes this local DAG --
  Control: goto L_else3
  Control: L_then1:
  Build: t1 = result + 1
    n1 = leaf result
    n2 = leaf 1
    n3 = + -&gt; t1
      |-- lhs: n1
      `-- rhs: n2
  Emit: result = t1
  -- assignment closes this local DAG --
  Control: goto L_end2
  Control: L_else3:
  Build: t2 = result - 1
    n4 = leaf result
    n5 = leaf 1
    n6 = - -&gt; t2
      |-- lhs: n4
      `-- rhs: n5
  Emit: result = t2
  -- assignment closes this local DAG --
  Control: L_end2: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6. Final DAG-optimized TAC
The code produced after simplification and expression reuse.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benchmarks/cse.c
RESULT | Before and after
Follow each original instruction to its optimized result.
  BASELINE                     | DAG OPTIMIZED
  if a &lt; b goto L_rhs5         | if a &lt; b goto L_rhs5
  goto L_rhs4                  | goto L_rhs4
  L_rhs5:                      | L_rhs5:
  if c != d goto L_then1       | if c != d goto L_then1
  goto L_rhs4                  | goto L_rhs4
  L_rhs4:                      | L_rhs4:
  if e &gt;= f goto L_rhs6        | if e &gt;= f goto L_rhs6
  goto L_else3                 | goto L_else3
  L_rhs6:                      | L_rhs6:
  if g &lt; h goto L_then1        | if g &lt; h goto L_then1
  goto L_rhs7                  | goto L_rhs7
  L_rhs7:                      | L_rhs7:
  if p == q goto L_then1       | if p == q goto L_then1
  goto L_else3                 | goto L_else3
  L_then1:                     | L_then1:
  t1 = result + 1              | t1 = result + 1
  result = t1                  | result = t1
  goto L_end2                  | goto L_end2
  L_else3:                     | L_else3:
  t2 = result - 1              | t2 = result - 1
  result = t2                  | result = t2
  L_end2:                      | L_end2:
  Instructions: 22 -&gt; 22  |  Removed: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TAC STRATEGY COMPARISON ================
Input: benchmarks/cse.c
+----------------+------------+------------+------------+-------------+
| Strategy       | TAC instr. | Temporaries| CSEs       | Binaries    |
+----------------+------------+------------+------------+-------------+
| baseline       |         22 |          2 |          0 |           2 |
| lightweight    |         22 |          2 |          0 |           2 |
| dag            |         22 |          2 |          0 |           2 |
+----------------+------------+------------+------------+-------------+
DAG TAC instruction change: 0.0% versus baseline
### baseline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### lightweight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### dag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CSEs counts repeated expressions remaining in the output, not the number of expressions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TAC STRATEGY COMPARISON ================
Input: benchmarks/cse.c
+----------------+------------+------------+------------+-------------+
| Strategy       | TAC instr. | Temporaries| CSEs       | Binaries    |
+----------------+------------+------------+------------+-------------+
| baseline       |         22 |          2 |          0 |           2 |
| lightweight    |         22 |          2 |          0 |           2 |
| dag            |         22 |          2 |          0 |           2 |
+----------------+------------+------------+------------+-------------+
DAG TAC instruction change: 0.0% versus baseline
### baseline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### lightweight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### dag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22
  Binary operations           2
  Branches                    5
  Labels                      7
  Temporaries                 2
  Basic blocks               18
  Expression depth            2
  Common subexpressions       0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10.900 |     34.800 |  0.000040353 |    19.335453 |     yes |
| lightweight    |     12.350 |     34.800 |  0.000039706 |    19.335735 |     yes |
| dag            |     13.500 |     34.800 |  0.000040923 |    19.335958 |     yes |
+----------------+------------+------------+--------------+--------------+---------+
Selected strategy    : baseline
Measurement note      : at least one energy model is unavailable; proxy estimates are used for missing metrics.
=========================================================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22
  Binary operations           2
  Branches                    5
  Labels                      7
  Temporaries                 2
  Basic blocks               18
  Expression depth            2
  Common subexpressions       0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10.900 |     34.800 |  0.000040353 |    19.335453 |     yes |
| lightweight    |     12.350 |     34.800 |  0.000039706 |    19.335735 |     yes |
| dag            |     13.500 |     34.800 |  0.000040923 |    19.335958 |     yes |
+----------------+------------+------------+--------------+--------------+---------+
Selected strategy    : baseline
Measurement note      : at least one energy model is unavailable; proxy estimates are used for missing metrics.
=========================================================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22
  Binary operations           2
  Branches                    5
  Labels                      7
  Temporaries                 2
  Basic blocks               18
  Expression depth            2
  Common subexpressions       0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10.900 |     34.800 |  0.000040353 |    19.335453 |     yes |
| lightweight    |     12.350 |     34.800 |  0.000039706 |    19.335735 |     yes |
| dag            |     13.500 |     34.800 |  0.000040923 |    19.335958 |     yes |
+----------------+------------+------------+--------------+--------------+---------+
Selected strategy    : baseline
Measurement note      : at least one energy model is unavailable; proxy estimates are used for missing metrics.
=========================================================
-------------------------------- TAC --------------------------------
if a &lt; b goto L_rhs5
goto L_rhs4
L_rhs5:
if c != d goto L_then1
goto L_rhs4
L_rhs4:
if e &gt;= f goto L_rhs6
goto L_else3
L_rhs6:
if g &lt; h goto L_then1
goto L_rhs7
L_rhs7:
if p == q goto L_then1
goto L_else3
L_then1:
t1 = result + 1
result = t1
goto L_end2
L_else3:
t2 = result - 1
result = t2
L_end2: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 file: benchmarks/optimization_showcase.c
a = 10 + 20;
b = a * 1;
x = (p + q) * (p + q) + (p + q);
i = 0;
while (i &lt; 3 &amp;&amp; !(b == 0)) {
    y = (r + s) * (r + s);
    i = i + 1;
}
z = x * 1;
result = z + 0;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1. Tokens
One row per source line. @column marks each token's position.
   1 |  a @1  = @3  10 @5  + @8  20 @10  ; @12
   2 |  b @1  = @3  a @5  * @7  1 @9  ; @10
   3 |  x @1  = @3  ( @5  p @6  + @8  q @10  ) @11  * @13  ( @15  p @16  + @18  q @20  ) @21  + @23  ( @25  p @26  + @28  q @30  ) @31  ; @32
   4 |  i @1  = @3  0 @5  ; @6
   5 |  while @1  ( @7  i @8  &lt; @10  3 @12  &amp;&amp; @14  ! @17  ( @18  b @19  == @21  0 @24  ) @25  ) @26  { @28
   6 |  y @5  = @7  ( @9  r @10  + @12  s @14  ) @15  * @17  ( @19  r @20  + @22  s @24  ) @25  ; @26
   7 |  i @5  = @7  i @9  + @11  1 @13  ; @14
   8 |  } @1
   9 |  z @1  = @3  x @5  * @7  1 @9  ; @10
  10 |  result @1  = @8  z @10  + @12  0 @14  ; @15
  &lt;end&gt;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2. Abstract syntax tree
Read from the root down; operators connect their operands.
Program
|-- Assign a
|   `-- +
|       |-- 10
|       `-- 20
|-- Assign b
|   `-- *
|       |-- a
|       `-- 1
|-- Assign x
|   `-- +
|       |-- *
|       |   |-- +
|       |   |   |-- p
|       |   |   `-- q
|       |   `-- +
|       |       |-- p
|       |       `-- q
|       `-- +
|           |-- p
|           `-- q
|-- Assign i
|   `-- 0
|-- While
|   |-- condition:
|   |   `-- &amp;&amp;
|   |       |-- &lt;
|   |       |   |-- i
|   |       |   `-- 3
|   |       `-- !
|   |           `-- ==
|   |               |-- b
|   |               `-- 0
|   `-- body:
|       `-- Block
|           |-- Assign y
|           |   `-- *
|           |       |-- +
|           |       |   |-- r
|           |       |   `-- s
|           |       `-- +
|           |           |-- r
|           |           `-- s
|           `-- Assign i
|               `-- +
|                   |-- i
|                   `-- 1
|-- Assign z
|   `-- *
|       |-- x
|       `-- 1
`-- Assign result
    `-- +
        |-- z
        `-- 0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2. Abstract syntax tree
Read from the root down; operators connect their operands.
Program
|-- Assign a
|   `-- +
|       |-- 10
|       `-- 20
|-- Assign b
|   `-- *
|       |-- a
|       `-- 1
|-- Assign x
|   `-- +
|       |-- *
|       |   |-- +
|       |   |   |-- p
|       |   |   `-- q
|       |   `-- +
|       |       |-- p
|       |       `-- q
|       `-- +
|           |-- p
|           `-- q
|-- Assign i
|   `-- 0
|-- While
|   |-- condition:
|   |   `-- &amp;&amp;
|   |       |-- &lt;
|   |       |   |-- i
|   |       |   `-- 3
|   |       `-- !
|   |           `-- ==
|   |               |-- b
|   |               `-- 0
|   `-- body:
|       `-- Block
|           |-- Assign y
|           |   `-- *
|           |       |-- +
|           |       |   |-- r
|           |       |   `-- s
|           |       `-- +
|           |           |-- r
|           |           `-- s
|           `-- Assign i
|               `-- +
|                   |-- i
|                   `-- 1
|-- Assign z
|   `-- *
|       |-- x
|       `-- 1
`-- Assign result
    `-- +
        |-- z
        `-- 0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3. Baseline TAC
Each temporary holds one intermediate computation.
   1 | t1 = 10 + 20
   2 | a = t1
   3 | t2 = a * 1
   4 | b = t2
   5 | t3 = p + q
   6 | t4 = p + q
   7 | t5 = t3 * t4
   8 | t6 = p + q
   9 | t7 = t5 + t6
  10 | x = t7
  11 | i = 0
  12 | L_while1:
  13 | if i &lt; 3 goto L_rhs4
  14 | goto L_end3
  15 | L_rhs4:
  16 | if b == 0 goto L_end3
  17 | goto L_body2
  18 | L_body2:
  19 | t8 = r + s
  20 | t9 = r + s
  21 | t10 = t8 * t9
  22 | y = t10
  23 | t11 = i + 1
  24 | i = t11
  25 | goto L_while1
  26 | L_end3:
  27 | t12 = x * 1
  28 | z = t12
  29 | t13 = z + 0
  30 | result = t13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4. Lightweight optimization
Before =&gt; After [reason]. Unchanged instructions remain visible.
   1. t1 = 10 + 20  =&gt;  t1 = 30  [constant folding]
   2. a = t1  =&gt;  a = 30  [copy propagation]
   3. t2 = a * 1  =&gt;  t2 = 30  [constant folding]
   4. b = t2  =&gt;  b = 30  [copy propagation]
   5. t3 = p + q  =&gt;  t3 = p + q  [unchanged]
   6. t4 = p + q  =&gt;  t4 = p + q  [unchanged]
   7. t5 = t3 * t4  =&gt;  t5 = t3 * t4  [unchanged]
   8. t6 = p + q  =&gt;  t6 = p + q  [unchanged]
   9. t7 = t5 + t6  =&gt;  t7 = t5 + t6  [unchanged]
  10. x = t7  =&gt;  x = t7  [unchanged]
  11. i = 0  =&gt;  i = 0  [unchanged]
  12. L_while1:  =&gt;  L_while1:  [unchanged]
  13. if i &lt; 3 goto L_rhs4  =&gt;  if i &lt; 3 goto L_rhs4  [unchanged]
  14. goto L_end3  =&gt;  goto L_end3  [unchanged]
  15. L_rhs4:  =&gt;  L_rhs4:  [unchanged]
  16. if b == 0 goto L_end3  =&gt;  if b == 0 goto L_end3  [unchanged]
  17. goto L_body2  =&gt;  goto L_body2  [unchanged]
  18. L_body2:  =&gt;  L_body2:  [unchanged]
  19. t8 = r + s  =&gt;  t8 = r + s  [unchanged]
  20. t9 = r + s  =&gt;  t9 = r + s  [unchanged]
  21. t10 = t8 * t9  =&gt;  t10 = t8 * t9  [unchanged]
  22. y = t10  =&gt;  y = t10  [unchanged]
  23. t11 = i + 1  =&gt;  t11 = i + 1  [unchanged]
  24. i = t11  =&gt;  i = t11  [unchanged]
  25. goto L_while1  =&gt;  goto L_while1  [unchanged]
  26. L_end3:  =&gt;  L_end3:  [unchanged]
  27. t12 = x * 1  =&gt;  t12 = x  [algebraic simplification]
  28. z = t12  =&gt;  z = x  [copy propagation]
  29. t13 = z + 0  =&gt;  t13 = x  [algebraic simplification]
  30. result = t13  =&gt;  result = x  [copy propagation]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4. Lightweight optimization
Before =&gt; After [reason]. Unchanged instructions remain visible.
   1. t1 = 10 + 20  =&gt;  t1 = 30  [constant folding]
   2. a = t1  =&gt;  a = 30  [copy propagation]
   3. t2 = a * 1  =&gt;  t2 = 30  [constant folding]
   4. b = t2  =&gt;  b = 30  [copy propagation]
   5. t3 = p + q  =&gt;  t3 = p + q  [unchanged]
   6. t4 = p + q  =&gt;  t4 = p + q  [unchanged]
   7. t5 = t3 * t4  =&gt;  t5 = t3 * t4  [unchanged]
   8. t6 = p + q  =&gt;  t6 = p + q  [unchanged]
   9. t7 = t5 + t6  =&gt;  t7 = t5 + t6  [unchanged]
  10. x = t7  =&gt;  x = t7  [unchanged]
  11. i = 0  =&gt;  i = 0  [unchanged]
  12. L_while1:  =&gt;  L_while1:  [unchanged]
  13. if i &lt; 3 goto L_rhs4  =&gt;  if i &lt; 3 goto L_rhs4  [unchanged]
  14. goto L_end3  =&gt;  goto L_end3  [unchanged]
  15. L_rhs4:  =&gt;  L_rhs4:  [unchanged]
  16. if b == 0 goto L_end3  =&gt;  if b == 0 goto L_end3  [unchanged]
  17. goto L_body2  =&gt;  goto L_body2  [unchanged]
  18. L_body2:  =&gt;  L_body2:  [unchanged]
  19. t8 = r + s  =&gt;  t8 = r + s  [unchanged]
  20. t9 = r + s  =&gt;  t9 = r + s  [unchanged]
  21. t10 = t8 * t9  =&gt;  t10 = t8 * t9  [unchanged]
  22. y = t10  =&gt;  y = t10  [unchanged]
  23. t11 = i + 1  =&gt;  t11 = i + 1  [unchanged]
  24. i = t11  =&gt;  i = t11  [unchanged]
  25. goto L_while1  =&gt;  goto L_while1  [unchanged]
  26. L_end3:  =&gt;  L_end3:  [unchanged]
  27. t12 = x * 1  =&gt;  t12 = x  [algebraic simplification]
  28. z = t12  =&gt;  z = x  [copy propagation]
  29. t13 = z + 0  =&gt;  t13 = x  [algebraic simplification]
  30. result = t13  =&gt;  result = x  [copy propagation]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5. Local DAG / common-subexpression elimination
Compute each expression once. Repeated node IDs share one result.
Legend: leaf = input value; lhs / rhs = left / right operand.
  Emit: t1 = 30
  Emit: a = 30
  Emit: t2 = 30
  Emit: b = 30
  Build: t3 = p + q
    n1 = leaf p
    n2 = leaf q
    n3 = + -&gt; t3
      |-- lhs: n1
      `-- rhs: n2
  Build: t4 = p + q
    Reuse n3 (t3); eliminate t4
  Build: t5 = t3 * t4
    n4 = * -&gt; t5
      |-- lhs: n3
      `-- rhs: n3
  Build: t6 = p + q
    Reuse n3 (t3); eliminate t6
  Build: t7 = t5 + t6
    n5 = + -&gt; t7
      |-- lhs: n4
      `-- rhs: n3
  Emit: x = t7
  -- assignment closes this local DAG --
  Emit: i = 0
  Control: L_while1:
  Branch: if i &lt; 3 goto L_rhs4
  -- control flow closes this local DAG --
  Control: goto L_end3
  Control: L_rhs4:
  Branch: if b == 0 goto L_end3
  -- control flow closes this local DAG --
  Control: goto L_body2
  Control: L_body2:
  Build: t8 = r + s
    n6 = leaf r
    n7 = leaf s
    n8 = + -&gt; t8
      |-- lhs: n6
      `-- rhs: n7
  Build: t9 = r + s
    Reuse n8 (t8); eliminate t9
  Build: t10 = t8 * t9
    n9 = * -&gt; t10
      |-- lhs: n8
      `-- rhs: n8
  Emit: y = t10
  -- assignment closes this local DAG --
  Build: t11 = i + 1
    n10 = leaf i
    n11 = leaf 1
    n12 = + -&gt; t11
      |-- lhs: n10
      `-- rhs: n11
  Emit: i = t11
  -- assignment closes this local DAG --
  Control: goto L_while1
  Control: L_end3:
  Emit: t12 = x
  Emit: z = x
  Emit: t13 = x
  Emit: result =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5. Local DAG / common-subexpression elimination
Compute each expression once. Repeated node IDs share one result.
Legend: leaf = input value; lhs / rhs = left / right operand.
  Emit: t1 = 30
  Emit: a = 30
  Emit: t2 = 30
  Emit: b = 30
  Build: t3 = p + q
    n1 = leaf p
    n2 = leaf q
    n3 = + -&gt; t3
      |-- lhs: n1
      `-- rhs: n2
  Build: t4 = p + q
    Reuse n3 (t3); eliminate t4
  Build: t5 = t3 * t4
    n4 = * -&gt; t5
      |-- lhs: n3
      `-- rhs: n3
  Build: t6 = p + q
    Reuse n3 (t3); eliminate t6
  Build: t7 = t5 + t6
    n5 = + -&gt; t7
      |-- lhs: n4
      `-- rhs: n3
  Emit: x = t7
  -- assignment closes this local DAG --
  Emit: i = 0
  Control: L_while1:
  Branch: if i &lt; 3 goto L_rhs4
  -- control flow closes this local DAG --
  Control: goto L_end3
  Control: L_rhs4:
  Branch: if b == 0 goto L_end3
  -- control flow closes this local DAG --
  Control: goto L_body2
  Control: L_body2:
  Build: t8 = r + s
    n6 = leaf r
    n7 = leaf s
    n8 = + -&gt; t8
      |-- lhs: n6
      `-- rhs: n7
  Build: t9 = r + s
    Reuse n8 (t8); eliminate t9
  Build: t10 = t8 * t9
    n9 = * -&gt; t10
      |-- lhs: n8
      `-- rhs: n8
  Emit: y = t10
  -- assignment closes this local DAG --
  Build: t11 = i + 1
    n10 = leaf i
    n11 = leaf 1
    n12 = + -&gt; t11
      |-- lhs: n10
      `-- rhs: n11
  Emit: i = t11
  -- assignment closes this local DAG --
  Control: goto L_while1
  Control: L_end3:
  Emit: t12 = x
  Emit: z = x
  Emit: t13 = x
  Emit: result =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6. Final DAG-optimized TAC
The code produced after simplification and expression reuse.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RESULT | Before and after
Follow each original instruction to its optimized result.
  BASELINE                     | DAG OPTIMIZED
  t1 = 10 + 20                 | t1 = 30
  a = t1                       | a = 30
  t2 = a * 1                   | t2 = 30
  b = t2                       | b = 30
  t3 = p + q                   | t3 = p + q
  t4 = p + q                   | (eliminated: expression reused)
  t5 = t3 * t4                 | t5 = t3 * t3
  t6 = p + q                   | (eliminated: expression reused)
  t7 = t5 + t6                 | t7 = t5 + t3
  x = t7                       | x = t7
  i = 0                        | i = 0
  L_while1:                    | L_while1:
  if i &lt; 3 goto L_rhs4         | if i &lt; 3 goto L_rhs4
  goto L_end3                  | goto L_end3
  L_rhs4:                      | L_rhs4:
  if b == 0 goto L_end3        | if b == 0 goto L_end3
  goto L_body2                 | goto L_body2
  L_body2:                     | L_body2:
  t8 = r + s                   | t8 = r + s
  t9 = r + s                   | (eliminated: expression reused)
  t10 = t8 * t9                | t10 = t8 * t8
  y = t10                      | y = t10
  t11 = i + 1                  | t11 = i + 1
  i = t11                      | i = t11
  goto L_while1                | goto L_while1
  L_end3:                      | L_end3:
  t12 = x * 1                  | t12 = x
  z = t12                      | z = x
  t13 = z + 0                  | t13 = x
  result = t13                 | result = x
  Instructions: 30 -&gt; 27  |  Removed: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Command: python run.py steps benchmarks/optimization_showcase.c
RESULT | Before and after
Follow each original instruction to its optimized result.
  BASELINE                     | DAG OPTIMIZED
  t1 = 10 + 20                 | t1 = 30
  a = t1                       | a = 30
  t2 = a * 1                   | t2 = 30
  b = t2                       | b = 30
  t3 = p + q                   | t3 = p + q
  t4 = p + q                   | (eliminated: expression reused)
  t5 = t3 * t4                 | t5 = t3 * t3
  t6 = p + q                   | (eliminated: expression reused)
  t7 = t5 + t6                 | t7 = t5 + t3
  x = t7                       | x = t7
  i = 0                        | i = 0
  L_while1:                    | L_while1:
  if i &lt; 3 goto L_rhs4         | if i &lt; 3 goto L_rhs4
  goto L_end3                  | goto L_end3
  L_rhs4:                      | L_rhs4:
  if b == 0 goto L_end3        | if b == 0 goto L_end3
  goto L_body2                 | goto L_body2
  L_body2:                     | L_body2:
  t8 = r + s                   | t8 = r + s
  t9 = r + s                   | (eliminated: expression reused)
  t10 = t8 * t9                | t10 = t8 * t8
  y = t10                      | y = t10
  t11 = i + 1                  | t11 = i + 1
  i = t11                      | i = t11
  goto L_while1                | goto L_while1
  L_end3:                      | L_end3:
  t12 = x * 1                  | t12 = x
  z = t12                      | z = x
  t13 = z + 0                  | t13 = x
  result = t13                 | result = x
  Instructions: 30 -&gt; 27  |  Removed: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TAC STRATEGY COMPARISON ================
Input: benchmarks/optimization_showcase.c
+----------------+------------+------------+------------+-------------+
| Strategy       | TAC instr. | Temporaries| CSEs       | Binaries    |
+----------------+------------+------------+------------+-------------+
| baseline       |         30 |         13 |          3 |          13 |
| lightweight    |         30 |         13 |          3 |           9 |
| dag            |         27 |         10 |          0 |           6 |
+----------------+------------+------------+------------+-------------+
DAG TAC instruction change: 10.0% versus baseline
### baseline
-------------------------------- TAC --------------------------------
t1 = 10 + 20
a = t1
t2 = a * 1
b = t2
t3 = p + q
t4 = p + q
t5 = t3 * t4
t6 = p + q
t7 = t5 + t6
x = t7
i = 0
L_while1:
if i &lt; 3 goto L_rhs4
goto L_end3
L_rhs4:
if b == 0 goto L_end3
goto L_body2
L_body2:
t8 = r + s
t9 = r + s
t10 = t8 * t9
y = t10
t11 = i + 1
i = t11
goto L_while1
L_end3:
t12 = x * 1
z = t12
t13 = z + 0
result = t13
------------------------------------------------------------------------
### lightweight
-------------------------------- TAC --------------------------------
t1 = 30
a = 30
t2 = 30
b = 30
t3 = p + q
t4 = p + q
t5 = t3 * t4
t6 = p + q
t7 = t5 + t6
x = t7
i = 0
L_while1:
if i &lt; 3 goto L_rhs4
goto L_end3
L_rhs4:
if b == 0 goto L_end3
goto L_body2
L_body2:
t8 = r + s
t9 = r + s
t10 = t8 * t9
y = t10
t11 = i + 1
i = t11
goto L_while1
L_end3:
t12 = x
z = x
t13 = x
result = x
------------------------------------------------------------------------
### dag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CSEs counts repeated expressions remaining in the output, not the number of expressions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TAC STRATEGY COMPARISON ================
Input: benchmarks/optimization_showcase.c
+----------------+------------+------------+------------+-------------+
| Strategy       | TAC instr. | Temporaries| CSEs       | Binaries    |
+----------------+------------+------------+------------+-------------+
| baseline       |         30 |         13 |          3 |          13 |
| lightweight    |         30 |         13 |          3 |           9 |
| dag            |         27 |         10 |          0 |           6 |
+----------------+------------+------------+------------+-------------+
DAG TAC instruction change: 10.0% versus baseline
### baseline
-------------------------------- TAC --------------------------------
t1 = 10 + 20
a = t1
t2 = a * 1
b = t2
t3 = p + q
t4 = p + q
t5 = t3 * t4
t6 = p + q
t7 = t5 + t6
x = t7
i = 0
L_while1:
if i &lt; 3 goto L_rhs4
goto L_end3
L_rhs4:
if b == 0 goto L_end3
goto L_body2
L_body2:
t8 = r + s
t9 = r + s
t10 = t8 * t9
y = t10
t11 = i + 1
i = t11
goto L_while1
L_end3:
t12 = x * 1
z = t12
t13 = z + 0
result = t13
------------------------------------------------------------------------
### lightweight
-------------------------------- TAC --------------------------------
t1 = 30
a = 30
t2 = 30
b = 30
t3 = p + q
t4 = p + q
t5 = t3 * t4
t6 = p + q
t7 = t5 + t6
x = t7
i = 0
L_while1:
if i &lt; 3 goto L_rhs4
goto L_end3
L_rhs4:
if b == 0 goto L_end3
goto L_body2
L_body2:
t8 = r + s
t9 = r + s
t10 = t8 * t9
y = t10
t11 = i + 1
i = t11
goto L_while1
L_end3:
t12 = x
z = x
t13 = x
result = x
------------------------------------------------------------------------
### dag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TAC STRATEGY COMPARISON ================
Input: benchmarks/optimization_showcase.c
+----------------+------------+------------+------------+-------------+
| Strategy       | TAC instr. | Temporaries| CSEs       | Binaries    |
+----------------+------------+------------+------------+-------------+
| baseline       |         30 |         13 |          3 |          13 |
| lightweight    |         30 |         13 |          3 |           9 |
| dag            |         27 |         10 |          0 |           6 |
+----------------+------------+------------+------------+-------------+
DAG TAC instruction change: 10.0% versus baseline
### baseline
-------------------------------- TAC --------------------------------
t1 = 10 + 20
a = t1
t2 = a * 1
b = t2
t3 = p + q
t4 = p + q
t5 = t3 * t4
t6 = p + q
t7 = t5 + t6
x = t7
i = 0
L_while1:
if i &lt; 3 goto L_rhs4
goto L_end3
L_rhs4:
if b == 0 goto L_end3
goto L_body2
L_body2:
t8 = r + s
t9 = r + s
t10 = t8 * t9
y = t10
t11 = i + 1
i = t11
goto L_while1
L_end3:
t12 = x * 1
z = t12
t13 = z + 0
result = t13
------------------------------------------------------------------------
### lightweight
-------------------------------- TAC --------------------------------
t1 = 30
a = 30
t2 = 30
b = 30
t3 = p + q
t4 = p + q
t5 = t3 * t4
t6 = p + q
t7 = t5 + t6
x = t7
i = 0
L_while1:
if i &lt; 3 goto L_rhs4
goto L_end3
L_rhs4:
if b == 0 goto L_end3
goto L_body2
L_body2:
t8 = r + s
t9 = r + s
t10 = t8 * t9
y = t10
t11 = i + 1
i = t11
goto L_while1
L_end3:
t12 = x
z = x
t13 = x
result = x
------------------------------------------------------------------------
### dag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30
  Binary operations          13
  Branches                    2
  Labels                      4
  Temporaries                13
  Basic blocks               10
  Expression depth            5
  Common subexpressions       3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16.150 |     57.400 |  0.000016660 |    31.892029 |     yes |
| lightweight    |     21.450 |     51.000 |  0.000016634 |    28.337504 |     yes |
| dag            |     28.550 |     42.300 |  0.000017206 |    23.505551 |     yes |
+----------------+------------+------------+--------------+--------------+---------+
Selected strategy    : dag
Measurement note      : at least one energy model is unavailable; proxy estimates are used for missing metrics.
=========================================================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30
  Binary operations          13
  Branches                    2
  Labels                      4
  Temporaries                13
  Basic blocks               10
  Expression depth            5
  Common subexpressions       3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16.150 |     57.400 |  0.000016660 |    31.892029 |     yes |
| lightweight    |     21.450 |     51.000 |  0.000016634 |    28.337504 |     yes |
| dag            |     28.550 |     42.300 |  0.000017206 |    23.505551 |     yes |
+----------------+------------+------------+--------------+--------------+---------+
Selected strategy    : dag
Measurement note      : at least one energy model is unavailable; proxy estimates are used for missing metrics.
=========================================================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================ GREEN STRATEGY DECISION ================
Model                 : partial / proxy fallback
Compile-energy model  : no
Runtime-energy model  : no
Runtime-time model    : yes
Energy/CO2e status    : PROXY estimates for missing energy models; not measured savings
Compile carbon        : 700.0 gCO2e/kWh
Runtime carbon        : 200.0 gCO2e/kWh
Expected executions   : 10000
Max runtime overhead  : 10.0%
  Instructions              30
  Binary operations          13
  Branches                    2
  Labels                      4
  Temporaries                13
  Basic blocks               10
  Expression depth            5
  Common subexpressions       3
+----------------+------------+------------+--------------+--------------+---------+
| Strategy       | Compile J  | Runtime J  | Runtime ms   | CO2e (g)     | Allowed |
+----------------+------------+------------+--------------+--------------+---------+
| baseline       |     16.150 |     57.400 |  0.000016660 |    31.892029 |     yes |
| lightweight    |     21.450 |     51.000 |  0.000016634 |    28.337504 |     yes |
| dag            |     28.550 |     42.300 |  0.000017206 |    23.505551 |     yes |
+----------------+------------+------------+--------------+--------------+---------+
Selected strategy    : dag
Measurement note      : at least one energy model is unavailable; proxy estimates are used for missing metrics.
=========================================================
-------------------------------- TAC --------------------------------
t1 = 30
a = 30
t2 = 30
b = 30
t3 = p + q
t5 = t3 * t3
t7 = t5 + t3
x = t7
i = 0
L_while1:
if i &lt; 3 goto L_rhs4
goto L_end3
L_rhs4:
if b == 0 goto L_end3
goto L_body2
L_body2:
t8 = r + s
t10 = t8 * t8
y = t10
t11 = i + 1
i = t11
goto L_while1
L_end3:
t12 = x
z = x
t13 = x
result = x
------------------------------------------------------------------------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current compiler outputs for python run.py compare benchmarks/cse.c and python run.py compare benchmarks/optimization_showcase.c. The proxy selector chooses baseline for Example 1 and DAG for Example 2 at compile CI 700, runtime CI 200, N 10000 and maximum runtime overhead 10%. No measured energy savings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TAC  | 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TAC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Adaptive Three-Address Code Optimization for Green Compilation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Presentation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Awadh Kumar Dhoot , Lakshyajeet Narsinghani, Mohammed Wasif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Reg. No: 24BCE2589,24BCE2419, 24BCE2523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School of Computer Science and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Green Compilation?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decide how much work the program does, every time it runs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harder costs compile-time energy.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optimizing costs runtime energy on every execution.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answer: it depends on how often the program runs and how clean the grid 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42316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energy and carbon as a first-class compiler cost.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several candidate TAC versions, estimate each one's carbon, and pick the best.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D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42316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C++ research compiler with three TAC strategies and a carbon-aware selector.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tooling for benchmarking, calibration and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Research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an adaptive policy reduce total estimated/measured carbon versus fixed policies, while keeping runtime acceptable?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110916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lexer, parser, AST and baseline TAC generator in C++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three candidate strategies: baseline, lightweight, DAG/CSE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total energy and CO2e with separate compile and runtime carbon intensities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greenest strategy per program, given expected executions 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always-baseline, always-lightweight and always-DAG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Overview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for the compiler, Python only for build, benchmarks and analysis. No CMake or Makefile needed.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9684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  +  include/greentac/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 core: lexer, parser, TAC, optimizer (lightweight, DAG), steps walkthrough, selector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benchmarks/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C programs such as cse.c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tests/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run through python run.py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generate_benchmarks, run_benchmarks, analyze_results, fit_model, fetch_carbon_dataset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data/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manifest, measurements, model files, carbon datasets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build.py  /  run.py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driver and CLI: tac, steps, compare, green, test, info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3D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PROJECT_SPEC.md  /  RESEARCH_WORKFLOW.md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spec and research methodology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Pipeline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program in, carbon-selected TAC 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96312" y="233172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82312" y="233172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68312" y="233172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54312" y="233172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0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TAC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strategies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96312" y="434340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38404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cost model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82312" y="434340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38404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68312" y="434340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38404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selection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354312" y="4343400"/>
            <a:ext cx="310896" cy="0"/>
          </a:xfrm>
          <a:prstGeom prst="line">
            <a:avLst/>
          </a:prstGeom>
          <a:noFill/>
          <a:ln w="25400">
            <a:solidFill>
              <a:srgbClr val="5F7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38404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84080" y="3840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TAC / optional C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back end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TAC feeds the candidate strategies, which are scored and compared before the final TAC is emitted.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Candidate Strategies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produces valid TAC for the same program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translation of the AST into TAC.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optimization pass. Compile cost depends on the program.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TAC instruction and temporary counts.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42316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local pass over the TAC.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folding, algebraic simplification and copy propagation.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resets at control-flow boundaries.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D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 / CSE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42316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top of the lightweight output.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local DAG so repeated expressions reuse one node.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resets at assignments and control 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Steps Walkthrough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shows every compiler stage for either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run.py steps benchmarks/cse.c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Source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source lines of the program being compiled.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8416" y="21945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1296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Tokens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source line; @column marks each token's position.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08192" y="21945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AST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tree of Assign, Block, If and While with then/else branches.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87968" y="21945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0848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Baseline TAC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TAC lines, one temporary per computation.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Lightweight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37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=&gt; After [reason]: folding, simplification, copy propagation.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28416" y="42976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11296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Local DAG / CSE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4937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n1, n2 with lhs/rhs edges; Reuse n.. marks eliminated work.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08192" y="42976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91072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Final DAG TAC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4937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simplification and reuse; matches --strategy dag.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87968" y="42976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70848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D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070848" y="4937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optimized side by side, with instruction counts and removed total.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and Carbon Model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measurements are kept separate from proxy estimates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2103120"/>
          </a:xfrm>
          <a:prstGeom prst="roundRect">
            <a:avLst>
              <a:gd name="adj" fmla="val 521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E_total = E_compile + N * E_runtime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CO2e = E_compile * CI_compile / 3.6e6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N * E_runtime * CI_runtime / 3.6e6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 joules, CI in gCO2e/kWh, N = expected executions.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737360"/>
            <a:ext cx="4050792" cy="4114800"/>
          </a:xfrm>
          <a:prstGeom prst="roundRect">
            <a:avLst>
              <a:gd name="adj" fmla="val 27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192024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2423160"/>
            <a:ext cx="359359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carbon intensity is applied to every phase, it is just a common multiplier and cannot change the ranking.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uses separate compile-time and runtime intensities.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 depends on both phases, so the winner changes with N and the grid.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Carbon-Aware Strategy Selector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 CO2e for each candidate, then choose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lightweight and DAG TAC for the program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731520" cy="73152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1546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metrics where available, labeled proxies otherwise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731520" cy="73152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546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CI_compile, CI_runtime and N to get CO2e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1546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lowest-carbon strategy within the runtime-overhead constraint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it:  python run.py green benchmarks/cse.c --compile-ci 700 --runtime-ci 200 --executions 10000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Workflow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 collection, analysis and calibration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corpus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tools/generate_benchmarks.py --count 120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148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CSE-heavy, constant-heavy, loop-heavy and mixed programs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834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tools/run_benchmarks.py --runs 50 --clean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strategy into data/measurements.csv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977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tools/analyze_results.py data/measurements.csv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per strategy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5120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tools/fit_model.py data/measurements.csv data/model.csv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5577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data/model_metrics.csv; split by program, not by run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Measurement and Carbon Data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measurements only; nothing is invented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measurement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 with a supported powercap/RAPL energy_uj counter, scripts record physical energy.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unsupported systems, energy is left blank rather than filled with made-up values.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provider: python run.py info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Carbon-intensity datasets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423160"/>
            <a:ext cx="4937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Ember monthly electricity dataset (tools/fetch_carbon_dataset.py).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option: Electricity Maps historical API, subject to academic access.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Britain: official Carbon Intensity API.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data is kept separate from compiler-energy training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Boolean if/else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12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065D3C84-30CD-FDAE-8826-80373EA5289D}"/>
              </a:ext>
            </a:extLst>
          </p:cNvPr>
          <p:cNvSpPr txBox="1"/>
          <p:nvPr/>
        </p:nvSpPr>
        <p:spPr>
          <a:xfrm>
            <a:off x="548640" y="2120899"/>
            <a:ext cx="11074400" cy="2603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if ((a &lt; b &amp;&amp; c != d) || (e &gt;= f &amp;&amp; (g &lt; h || p == q))) {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 result = result + 1;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} else {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 result = result - 1;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7DA98C24-8FAA-6E90-9F76-8C1BEDAE71E9}"/>
              </a:ext>
            </a:extLst>
          </p:cNvPr>
          <p:cNvSpPr txBox="1"/>
          <p:nvPr/>
        </p:nvSpPr>
        <p:spPr>
          <a:xfrm>
            <a:off x="548640" y="4889499"/>
            <a:ext cx="110744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280"/>
              </a:lnSpc>
            </a:pPr>
            <a:r>
              <a:rPr lang="en-US" sz="1900">
                <a:solidFill>
                  <a:srgbClr val="0B3D2E"/>
                </a:solidFill>
                <a:latin typeface="Calibri" panose="020F0502020204030204" pitchFamily="34" charset="0"/>
              </a:rPr>
              <a:t>Nested Boolean condition with if/else. Short-circuit jumps preserve the logical structure. This example has no repeated arithmetic work to remove.</a:t>
            </a:r>
            <a:endParaRPr lang="en-IN" sz="190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37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Tokens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13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711250D0-136C-C635-9E5D-EC2056F2C0B0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Every token and its source column. Long source rows continue on the next display line.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12708E6C-1F57-DEAB-A3BD-F56E16243771}"/>
              </a:ext>
            </a:extLst>
          </p:cNvPr>
          <p:cNvSpPr txBox="1"/>
          <p:nvPr/>
        </p:nvSpPr>
        <p:spPr>
          <a:xfrm>
            <a:off x="548640" y="2108199"/>
            <a:ext cx="110744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458"/>
              </a:lnSpc>
            </a:pPr>
            <a:endParaRPr lang="en-IN" sz="1350" dirty="0">
              <a:solidFill>
                <a:srgbClr val="0B3D2E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BDB6A1-E785-2EE7-A536-C273A1A3B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5810"/>
            <a:ext cx="11091672" cy="176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Abstract syntax tree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14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417D8C86-3457-B4C7-E3B8-97310DCEF097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first, then continue at the top of the right column.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AC544A89-7997-6E62-3F47-2FDCFF5385D8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512"/>
              </a:lnSpc>
            </a:pPr>
            <a:endParaRPr lang="en-IN" sz="1400" dirty="0">
              <a:solidFill>
                <a:srgbClr val="0B3D2E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7240B-08E4-F980-1B88-693A2854FB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97"/>
          <a:stretch>
            <a:fillRect/>
          </a:stretch>
        </p:blipFill>
        <p:spPr>
          <a:xfrm>
            <a:off x="568960" y="2133642"/>
            <a:ext cx="6008511" cy="4239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AD81F-8F5F-E8EA-2A5B-B33DCF99B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320" y="2147804"/>
            <a:ext cx="4126400" cy="42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91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Baseline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15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E6BED81C-7F30-AAD7-1CB9-00BE234447D6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IN" sz="1250">
                <a:solidFill>
                  <a:srgbClr val="5F7A6B"/>
                </a:solidFill>
                <a:latin typeface="Calibri" panose="020F0502020204030204" pitchFamily="34" charset="0"/>
              </a:rPr>
              <a:t>22 instructions before optimization.</a:t>
            </a: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48A5D414-2189-AB74-925F-464D798174C4}"/>
              </a:ext>
            </a:extLst>
          </p:cNvPr>
          <p:cNvSpPr txBox="1"/>
          <p:nvPr/>
        </p:nvSpPr>
        <p:spPr>
          <a:xfrm>
            <a:off x="548640" y="2108199"/>
            <a:ext cx="110744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1 | if a &lt; b goto L_rhs5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2 | goto L_rhs4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3 | L_rhs5: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4 | if c != d goto L_then1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5 | goto L_rhs4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6 | L_rhs4: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7 | if e &gt;= f goto L_rhs6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8 | goto L_else3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 9 | L_rhs6: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10 | if g &lt; h goto L_then1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11 | goto L_rhs7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12 | L_rhs7: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13 | if p == q goto L_then1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14 | goto L_else3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15 | L_then1: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16 | t1 = result + 1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17 | result = t1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18 | goto L_end2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19 | L_else3: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20 | t2 = result - 1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21 | result = t2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  22 | L_end2: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6EC88-300C-DAD4-642D-432AC228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91"/>
          <a:stretch>
            <a:fillRect/>
          </a:stretch>
        </p:blipFill>
        <p:spPr>
          <a:xfrm>
            <a:off x="568960" y="1781580"/>
            <a:ext cx="5923446" cy="45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1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Lightweight rewrites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16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4220FF21-1C33-26CD-540F-F4BEC2394658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Before =&gt; After [reason]. Unchanged instructions remain visible.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18CE7-DB50-0DA3-857A-8970BAA3A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79380"/>
            <a:ext cx="5527040" cy="436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08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DAG / CSE trace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17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D34D8A09-BC99-A9D3-EB58-869F333D8012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first. Reuse marks eliminated expressions. Control flow closes each local DAG.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3085FAD7-B1BF-76DC-8946-748DF12D9891}"/>
              </a:ext>
            </a:extLst>
          </p:cNvPr>
          <p:cNvSpPr txBox="1"/>
          <p:nvPr/>
        </p:nvSpPr>
        <p:spPr>
          <a:xfrm>
            <a:off x="5486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Branch: if a &lt; b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L_rhs5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L_rhs4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L_rhs5: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Branch: if c != d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L_then1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L_rhs4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L_rhs4: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Branch: if e &gt;= f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L_rhs6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L_else3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L_rhs6: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Branch: if g &lt; h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L_then1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L_rhs7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L_rhs7: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Branch: if p == q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L_then1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</a:t>
            </a:r>
            <a:r>
              <a:rPr lang="en-IN" sz="1350" dirty="0" err="1">
                <a:solidFill>
                  <a:srgbClr val="0B3D2E"/>
                </a:solidFill>
                <a:latin typeface="Courier New" panose="02070309020205020404" pitchFamily="49" charset="0"/>
              </a:rPr>
              <a:t>goto</a:t>
            </a: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L_else3</a:t>
            </a:r>
          </a:p>
          <a:p>
            <a:pPr>
              <a:lnSpc>
                <a:spcPts val="1458"/>
              </a:lnSpc>
            </a:pPr>
            <a:r>
              <a:rPr lang="en-IN" sz="1350" dirty="0">
                <a:solidFill>
                  <a:srgbClr val="0B3D2E"/>
                </a:solidFill>
                <a:latin typeface="Courier New" panose="02070309020205020404" pitchFamily="49" charset="0"/>
              </a:rPr>
              <a:t>  Control: L_then1: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40E62918-ED84-0AF2-B7DA-2F8E7F67B1A0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t1 = result + 1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n1 = leaf result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n2 = leaf 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n3 = + -&gt; t1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|-- lhs: n1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`-- rhs: n2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result = t1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-- assignment closes this local DAG --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goto L_end2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L_else3: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t2 = result - 1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n4 = leaf result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n5 = leaf 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n6 = - -&gt; t2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|-- lhs: n4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`-- rhs: n5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result = t2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-- assignment closes this local DAG --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L_end2: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64C83-B32E-2462-E84B-60D13CA5A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108200"/>
            <a:ext cx="5415281" cy="4303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DB96FF-F19C-FF9A-9054-D6B2DC19FC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4" b="3572"/>
          <a:stretch>
            <a:fillRect/>
          </a:stretch>
        </p:blipFill>
        <p:spPr>
          <a:xfrm>
            <a:off x="6126480" y="2108200"/>
            <a:ext cx="5315692" cy="430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38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Final DAG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18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3DCB4-4FCB-DE08-79FC-2827C03C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969" y="1836984"/>
            <a:ext cx="5407655" cy="446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52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Before and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19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6231BE38-10DD-B011-C8AA-21260CA354B5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Every baseline instruction appears beside its optimized result.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F51C5-CEC5-DD55-53CF-E26883792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412" y="2057401"/>
            <a:ext cx="5082696" cy="44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3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Strategy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compare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20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DCB93BE7-D51F-7B1F-C542-4D3A1C0956B7}"/>
              </a:ext>
            </a:extLst>
          </p:cNvPr>
          <p:cNvSpPr txBox="1"/>
          <p:nvPr/>
        </p:nvSpPr>
        <p:spPr>
          <a:xfrm>
            <a:off x="538480" y="4586721"/>
            <a:ext cx="110744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520"/>
              </a:lnSpc>
            </a:pPr>
            <a:r>
              <a:rPr lang="en-US" sz="2100" dirty="0">
                <a:solidFill>
                  <a:srgbClr val="0B3D2E"/>
                </a:solidFill>
                <a:latin typeface="Calibri" panose="020F0502020204030204" pitchFamily="34" charset="0"/>
              </a:rPr>
              <a:t>All three strategies retain 22 instructions. Short-circuit control flow is the important result here. There is no local expression reuse to remove.</a:t>
            </a:r>
            <a:endParaRPr lang="en-IN" sz="2100" dirty="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990AA-1D70-4750-BC24-0697AAF612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70"/>
          <a:stretch>
            <a:fillRect/>
          </a:stretch>
        </p:blipFill>
        <p:spPr>
          <a:xfrm>
            <a:off x="2593442" y="1758574"/>
            <a:ext cx="637327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46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TAC across all strategies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compare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21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C86C44DC-3C0D-0484-A11C-A1D31C9A6243}"/>
              </a:ext>
            </a:extLst>
          </p:cNvPr>
          <p:cNvSpPr txBox="1"/>
          <p:nvPr/>
        </p:nvSpPr>
        <p:spPr>
          <a:xfrm>
            <a:off x="5486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BASELINE</a:t>
            </a: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B16D7125-B6BC-5EAA-2820-B72460BC835D}"/>
              </a:ext>
            </a:extLst>
          </p:cNvPr>
          <p:cNvSpPr txBox="1"/>
          <p:nvPr/>
        </p:nvSpPr>
        <p:spPr>
          <a:xfrm>
            <a:off x="548640" y="2247899"/>
            <a:ext cx="3556000" cy="406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a &lt; b goto L_rhs5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L_rhs5: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c != d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L_rhs4: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e &gt;= f goto L_rhs6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L_rhs6: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g &lt; h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L_rhs7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L_rhs7: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p == q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L_then1: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t1 = result + 1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L_end2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L_else3: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t2 = result - 1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L_end2: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4B7B631C-5EB5-99F4-B4A5-655AC18437B4}"/>
              </a:ext>
            </a:extLst>
          </p:cNvPr>
          <p:cNvSpPr txBox="1"/>
          <p:nvPr/>
        </p:nvSpPr>
        <p:spPr>
          <a:xfrm>
            <a:off x="43078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LIGHTWEIGHT</a:t>
            </a:r>
          </a:p>
        </p:txBody>
      </p:sp>
      <p:sp>
        <p:nvSpPr>
          <p:cNvPr id="14" name="Content 8">
            <a:extLst>
              <a:ext uri="{FF2B5EF4-FFF2-40B4-BE49-F238E27FC236}">
                <a16:creationId xmlns:a16="http://schemas.microsoft.com/office/drawing/2014/main" id="{38859EE2-C358-CE8D-8063-29623C680BE1}"/>
              </a:ext>
            </a:extLst>
          </p:cNvPr>
          <p:cNvSpPr txBox="1"/>
          <p:nvPr/>
        </p:nvSpPr>
        <p:spPr>
          <a:xfrm>
            <a:off x="4307840" y="2247899"/>
            <a:ext cx="3556000" cy="406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a &lt; b goto L_rhs5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L_rhs5: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c != d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L_rhs4: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e &gt;= f goto L_rhs6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L_rhs6: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g &lt; h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L_rhs7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L_rhs7: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p == q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L_then1: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t1 = result + 1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L_end2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L_else3: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t2 = result - 1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L_end2:</a:t>
            </a:r>
          </a:p>
        </p:txBody>
      </p:sp>
      <p:sp>
        <p:nvSpPr>
          <p:cNvPr id="15" name="Content 9">
            <a:extLst>
              <a:ext uri="{FF2B5EF4-FFF2-40B4-BE49-F238E27FC236}">
                <a16:creationId xmlns:a16="http://schemas.microsoft.com/office/drawing/2014/main" id="{BB3FFE23-6A23-D5D7-7E77-506BE7972AFA}"/>
              </a:ext>
            </a:extLst>
          </p:cNvPr>
          <p:cNvSpPr txBox="1"/>
          <p:nvPr/>
        </p:nvSpPr>
        <p:spPr>
          <a:xfrm>
            <a:off x="80670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DAG</a:t>
            </a:r>
          </a:p>
        </p:txBody>
      </p:sp>
      <p:sp>
        <p:nvSpPr>
          <p:cNvPr id="16" name="Content 10">
            <a:extLst>
              <a:ext uri="{FF2B5EF4-FFF2-40B4-BE49-F238E27FC236}">
                <a16:creationId xmlns:a16="http://schemas.microsoft.com/office/drawing/2014/main" id="{47BB3AA1-A63E-D5BC-BFD2-33DEF1BFF876}"/>
              </a:ext>
            </a:extLst>
          </p:cNvPr>
          <p:cNvSpPr txBox="1"/>
          <p:nvPr/>
        </p:nvSpPr>
        <p:spPr>
          <a:xfrm>
            <a:off x="8067040" y="2247899"/>
            <a:ext cx="3556000" cy="406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a &lt; b goto L_rhs5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L_rhs5: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c != d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L_rhs4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L_rhs4: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e &gt;= f goto L_rhs6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L_rhs6: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g &lt; h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L_rhs7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L_rhs7: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if p == q goto L_then1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L_else3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L_then1: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t1 = result + 1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goto L_end2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L_else3: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t2 = result - 1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result = t2</a:t>
            </a:r>
          </a:p>
          <a:p>
            <a:pPr>
              <a:lnSpc>
                <a:spcPts val="1300"/>
              </a:lnSpc>
            </a:pPr>
            <a:r>
              <a:rPr lang="en-IN" sz="1250">
                <a:solidFill>
                  <a:srgbClr val="0B3D2E"/>
                </a:solidFill>
                <a:latin typeface="Courier New" panose="02070309020205020404" pitchFamily="49" charset="0"/>
              </a:rPr>
              <a:t>L_end2: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EF014-194E-EF5E-00E5-91C7EA50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9599"/>
            <a:ext cx="3392099" cy="4625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56BC4-AD2F-5C31-1C62-FCD0CF62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39" y="1847613"/>
            <a:ext cx="3224233" cy="4598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738BEC-8859-AFEF-8371-4E2CEC413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172" y="1847612"/>
            <a:ext cx="3392101" cy="459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Selector inputs and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green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22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4E81033F-DE94-F5C4-865C-8BC6E390D2FC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Energy and CO2e use proxy estimates. The fitted runtime model has poor documented holdout accuracy.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1C411-2338-BAC6-A23A-B955CF4FC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04" y="2054377"/>
            <a:ext cx="9637992" cy="448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12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Carbon-aware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green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23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2CE11D00-1FFC-1D23-4D3B-90E87BA003CA}"/>
              </a:ext>
            </a:extLst>
          </p:cNvPr>
          <p:cNvSpPr txBox="1"/>
          <p:nvPr/>
        </p:nvSpPr>
        <p:spPr>
          <a:xfrm>
            <a:off x="548640" y="4203699"/>
            <a:ext cx="110744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880"/>
              </a:lnSpc>
            </a:pPr>
            <a:r>
              <a:rPr lang="en-IN" sz="2400">
                <a:solidFill>
                  <a:srgbClr val="0B3D2E"/>
                </a:solidFill>
                <a:latin typeface="Calibri" panose="020F0502020204030204" pitchFamily="34" charset="0"/>
              </a:rPr>
              <a:t>Selected strategy: baseline</a:t>
            </a: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58C9DAFE-FC05-3571-D436-DFCD1CC9C7A8}"/>
              </a:ext>
            </a:extLst>
          </p:cNvPr>
          <p:cNvSpPr txBox="1"/>
          <p:nvPr/>
        </p:nvSpPr>
        <p:spPr>
          <a:xfrm>
            <a:off x="548640" y="4787899"/>
            <a:ext cx="110744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280"/>
              </a:lnSpc>
            </a:pPr>
            <a:r>
              <a:rPr lang="en-US" sz="1900">
                <a:solidFill>
                  <a:srgbClr val="0B3D2E"/>
                </a:solidFill>
                <a:latin typeface="Calibri" panose="020F0502020204030204" pitchFamily="34" charset="0"/>
              </a:rPr>
              <a:t>Baseline wins because the generated strategies have the same runtime-energy proxy and baseline has the lowest compile-energy proxy.</a:t>
            </a:r>
            <a:endParaRPr lang="en-IN" sz="190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E1D70BF4-7829-11CC-BB07-D99151CADB42}"/>
              </a:ext>
            </a:extLst>
          </p:cNvPr>
          <p:cNvSpPr txBox="1"/>
          <p:nvPr/>
        </p:nvSpPr>
        <p:spPr>
          <a:xfrm>
            <a:off x="548640" y="5778499"/>
            <a:ext cx="11074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680"/>
              </a:lnSpc>
            </a:pPr>
            <a:r>
              <a:rPr lang="en-US" sz="1400">
                <a:solidFill>
                  <a:srgbClr val="5F7A6B"/>
                </a:solidFill>
                <a:latin typeface="Calibri" panose="020F0502020204030204" pitchFamily="34" charset="0"/>
              </a:rPr>
              <a:t>PROXY energy and CO2e estimates. These values do not establish measured energy savings or a reliable runtime guarantee.</a:t>
            </a:r>
            <a:endParaRPr lang="en-IN" sz="140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Editable evidence table">
            <a:extLst>
              <a:ext uri="{FF2B5EF4-FFF2-40B4-BE49-F238E27FC236}">
                <a16:creationId xmlns:a16="http://schemas.microsoft.com/office/drawing/2014/main" id="{38CACBCE-70F7-7391-E8DF-E7B87CD3C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21499"/>
              </p:ext>
            </p:extLst>
          </p:nvPr>
        </p:nvGraphicFramePr>
        <p:xfrm>
          <a:off x="548640" y="2159000"/>
          <a:ext cx="110744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>
                  <a:extLst>
                    <a:ext uri="{9D8B030D-6E8A-4147-A177-3AD203B41FA5}">
                      <a16:colId xmlns:a16="http://schemas.microsoft.com/office/drawing/2014/main" val="2817910303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1283147749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590422263"/>
                    </a:ext>
                  </a:extLst>
                </a:gridCol>
                <a:gridCol w="2104136">
                  <a:extLst>
                    <a:ext uri="{9D8B030D-6E8A-4147-A177-3AD203B41FA5}">
                      <a16:colId xmlns:a16="http://schemas.microsoft.com/office/drawing/2014/main" val="336788092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1310693211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428958278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Strategy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Compile J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Runtime J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Runtime ms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CO2e (g)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Allowed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0381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baseline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10.900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34.800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0.000040353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19.335453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462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lightweight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12.350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34.800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0.000039706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19.335735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44079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dag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13.500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34.800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0.000040923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19.335958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79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819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Selected final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green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cse.c</a:t>
            </a: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24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FC175C3F-FE63-5DE2-2BE7-BB305C36A142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Selected strategy: baseline. Complete output follows in column order.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92C96-88B3-1198-D1B6-3460A1CD0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92" y="2057400"/>
            <a:ext cx="8184746" cy="445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1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Optimization and a while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25</a:t>
            </a:r>
            <a:endParaRPr lang="en-US"/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4582232C-314E-3060-A08D-80AFE8B03236}"/>
              </a:ext>
            </a:extLst>
          </p:cNvPr>
          <p:cNvSpPr txBox="1"/>
          <p:nvPr/>
        </p:nvSpPr>
        <p:spPr>
          <a:xfrm>
            <a:off x="548640" y="4889499"/>
            <a:ext cx="110744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280"/>
              </a:lnSpc>
            </a:pPr>
            <a:r>
              <a:rPr lang="en-US" sz="1900">
                <a:solidFill>
                  <a:srgbClr val="0B3D2E"/>
                </a:solidFill>
                <a:latin typeface="Calibri" panose="020F0502020204030204" pitchFamily="34" charset="0"/>
              </a:rPr>
              <a:t>Arithmetic, assignments and a while loop with a Boolean condition. Constants, neutral arithmetic and repeated expressions expose each optimization pass.</a:t>
            </a:r>
            <a:endParaRPr lang="en-IN" sz="190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C62BB-D7C3-B3EE-128E-B73E4E157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4797"/>
            <a:ext cx="464884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9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Tokens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26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A14C6AD0-65A1-0BD1-9C2F-1DC824BF7CC9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Every token and its source column. Long source rows continue on the next display line.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C6BA0-BA8D-1629-3092-1318A4614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281725"/>
            <a:ext cx="11135360" cy="305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80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Abstract syntax tree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27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FA379E8A-78C6-085E-C18E-6A324CA0A6DA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first, then continue at the top of the right column.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6372B13C-DC77-D18A-F016-11271DE0A794}"/>
              </a:ext>
            </a:extLst>
          </p:cNvPr>
          <p:cNvSpPr txBox="1"/>
          <p:nvPr/>
        </p:nvSpPr>
        <p:spPr>
          <a:xfrm>
            <a:off x="5486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Program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|-- Assign a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`-- +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    |-- 10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    `-- 20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|-- Assign b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`-- *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    |-- a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    `-- 1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|-- Assign x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`-- +</a:t>
            </a:r>
          </a:p>
          <a:p>
            <a:pPr>
              <a:lnSpc>
                <a:spcPts val="1512"/>
              </a:lnSpc>
            </a:pPr>
            <a:r>
              <a:rPr lang="en-US" sz="1400">
                <a:solidFill>
                  <a:srgbClr val="0B3D2E"/>
                </a:solidFill>
                <a:latin typeface="Courier New" panose="02070309020205020404" pitchFamily="49" charset="0"/>
              </a:rPr>
              <a:t>|       |-- *</a:t>
            </a:r>
            <a:endParaRPr lang="en-IN" sz="1400">
              <a:solidFill>
                <a:srgbClr val="0B3D2E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A4D45C0E-FB7B-82B7-06A2-F56D5C1B50D5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|-- +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|   |-- p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|   `-- q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`-- +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    |-- p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|       `-- q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`-- +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    |-- p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        `-- q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|-- Assign i</a:t>
            </a:r>
          </a:p>
          <a:p>
            <a:pPr>
              <a:lnSpc>
                <a:spcPts val="1512"/>
              </a:lnSpc>
            </a:pPr>
            <a:r>
              <a:rPr lang="en-IN" sz="1400">
                <a:solidFill>
                  <a:srgbClr val="0B3D2E"/>
                </a:solidFill>
                <a:latin typeface="Courier New" panose="02070309020205020404" pitchFamily="49" charset="0"/>
              </a:rPr>
              <a:t>|   `-- 0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1D6D2-9F68-B11D-8797-220A58B21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5268060" cy="317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299F0B-38ED-D8B3-E6E4-1E0F4B743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100" y="2057400"/>
            <a:ext cx="306747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85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Abstract syntax tree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28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1741917E-5D9B-BF7C-69BD-796735A19732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first, then continue at the top of the right column.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CB963-2152-B514-C3B3-ADD2297F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89" y="2144261"/>
            <a:ext cx="3046298" cy="439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3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Baseline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29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48BA5995-5061-D971-B7B6-366667FED53B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30 instructions before optimization. Read the left column, then the right.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6A8F1632-A19F-390F-6458-B060EE2426B6}"/>
              </a:ext>
            </a:extLst>
          </p:cNvPr>
          <p:cNvSpPr txBox="1"/>
          <p:nvPr/>
        </p:nvSpPr>
        <p:spPr>
          <a:xfrm>
            <a:off x="5486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1 | t1 = 10 + 20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2 | a = t1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3 | t2 = a * 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4 | b = t2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5 | t3 = p + q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6 | t4 = p + q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7 | t5 = t3 * t4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8 | t6 = p + q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 9 | t7 = t5 + t6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10 | x = t7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11 | i = 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12 | L_while1: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13 | if i &lt; 3 goto L_rhs4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14 | goto L_end3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15 | L_rhs4: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144595A1-69CC-E836-1CD9-4C7961E4B8AA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16 | if b == 0 goto L_end3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17 | goto L_body2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18 | L_body2: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19 | t8 = r + s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20 | t9 = r + s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21 | t10 = t8 * t9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22 | y = t10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23 | t11 = i + 1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24 | i = t11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25 | goto L_while1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26 | L_end3: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27 | t12 = x * 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28 | z = t12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29 | t13 = z + 0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  30 | result = t13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EAA99-17D1-933E-2729-26C533904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2" y="2057400"/>
            <a:ext cx="4418484" cy="3505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B665B2-285F-90AC-0190-86848F9C5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057400"/>
            <a:ext cx="3825121" cy="350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57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Lightweight rewrites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30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7AF58002-B486-ABE7-D560-1567F08B3BC8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Before =&gt; After [reason]. Unchanged instructions remain visible.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36812-60CF-E020-F81E-7522D6A47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2057400"/>
            <a:ext cx="6904860" cy="410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97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Lightweight rewrites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31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AEDD6DA0-F7E9-DE9D-0E46-0860AEF71B79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 dirty="0">
                <a:solidFill>
                  <a:srgbClr val="5F7A6B"/>
                </a:solidFill>
                <a:latin typeface="Calibri" panose="020F0502020204030204" pitchFamily="34" charset="0"/>
              </a:rPr>
              <a:t>Before =&gt; After [reason]. Unchanged instructions remain visible.</a:t>
            </a:r>
            <a:endParaRPr lang="en-IN" sz="1250" dirty="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5972D-FEA4-11CD-5151-CB870D1EC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1860"/>
            <a:ext cx="7304313" cy="395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40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DAG / CSE trace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32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45F2F1A5-4DA8-76A8-3BDE-E7EB10227DA1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first. Reuse marks eliminated expressions. Control flow closes each local DAG.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EC5337F3-342F-6D2A-C88A-DCC7F8A5BFAC}"/>
              </a:ext>
            </a:extLst>
          </p:cNvPr>
          <p:cNvSpPr txBox="1"/>
          <p:nvPr/>
        </p:nvSpPr>
        <p:spPr>
          <a:xfrm>
            <a:off x="5486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t1 = 30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a = 30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t2 = 30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b = 30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t3 = p + q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n1 = leaf p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n2 = leaf q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n3 = + -&gt; t3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|-- lhs: n1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`-- rhs: n2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t4 = p + q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Reuse n3 (t3); eliminate t4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t5 = t3 * t4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n4 = * -&gt; t5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|-- lhs: n3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`-- rhs: n3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F10ABAA5-8B96-9231-F971-1D6585A2A1F2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t6 = p + q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Reuse n3 (t3); eliminate t6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Build: t7 = t5 + t6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n5 = + -&gt; t7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|-- lhs: n4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    `-- rhs: n3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x = t7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-- assignment closes this local DAG --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Emit: i = 0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L_while1: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Branch: if i &lt; 3 goto L_rhs4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-- control flow closes this local DAG --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goto L_end3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Control: L_rhs4:</a:t>
            </a:r>
          </a:p>
          <a:p>
            <a:pPr>
              <a:lnSpc>
                <a:spcPts val="1458"/>
              </a:lnSpc>
            </a:pPr>
            <a:r>
              <a:rPr lang="en-IN" sz="1350">
                <a:solidFill>
                  <a:srgbClr val="0B3D2E"/>
                </a:solidFill>
                <a:latin typeface="Courier New" panose="02070309020205020404" pitchFamily="49" charset="0"/>
              </a:rPr>
              <a:t>  Branch: if b == 0 goto L_end3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8844D-44E2-7E90-2CB3-FBDE122F2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1" y="2057400"/>
            <a:ext cx="5370022" cy="4389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BAA7CD-6648-2882-3C4F-F8129AD70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2" y="2070391"/>
            <a:ext cx="4413172" cy="43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3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DAG / CSE trace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33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A3F8B6CE-6FB6-2451-E09C-562FB5B100D7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Read the left column first. Reuse marks eliminated expressions. Control flow closes each local DAG.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7F600-1116-5556-A652-97D74F47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1860"/>
            <a:ext cx="4601217" cy="353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D3862-1720-BCF6-3CA7-79662F4B1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242" y="2181860"/>
            <a:ext cx="4530850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97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Final DAG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34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9A8DA9B8-1767-8702-69BB-3BB056DC37AB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Complete optimized TAC. Read the left column, then continue on the right.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B7D50B0D-6471-80EF-3383-3427FE3B7677}"/>
              </a:ext>
            </a:extLst>
          </p:cNvPr>
          <p:cNvSpPr txBox="1"/>
          <p:nvPr/>
        </p:nvSpPr>
        <p:spPr>
          <a:xfrm>
            <a:off x="5486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t1 = 30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a = 30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t2 = 30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b = 30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t3 = p + q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t5 = t3 * t3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t7 = t5 + t3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x = t7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i = 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L_while1: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if i &lt; 3 goto L_rhs4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goto L_end3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L_rhs4: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if b == 0 goto L_end3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B3018A24-A85D-721F-0BBB-20FF033E9E7D}"/>
              </a:ext>
            </a:extLst>
          </p:cNvPr>
          <p:cNvSpPr txBox="1"/>
          <p:nvPr/>
        </p:nvSpPr>
        <p:spPr>
          <a:xfrm>
            <a:off x="6289040" y="2108199"/>
            <a:ext cx="5334000" cy="419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goto L_body2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L_body2: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t8 = r + s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t10 = t8 * t8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y = t10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t11 = i + 1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i = t11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goto L_while1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L_end3: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t12 = x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z = x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t13 = x</a:t>
            </a:r>
          </a:p>
          <a:p>
            <a:pPr>
              <a:lnSpc>
                <a:spcPts val="1728"/>
              </a:lnSpc>
            </a:pPr>
            <a:r>
              <a:rPr lang="en-IN" sz="1600">
                <a:solidFill>
                  <a:srgbClr val="0B3D2E"/>
                </a:solidFill>
                <a:latin typeface="Courier New" panose="02070309020205020404" pitchFamily="49" charset="0"/>
              </a:rPr>
              <a:t>result = 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250B8-9757-7D1C-1191-F0099D11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85" y="2108199"/>
            <a:ext cx="5410955" cy="3610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F16C8A-743B-6F32-7628-7292E0F55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040" y="2108199"/>
            <a:ext cx="362162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22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Before and after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35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9D23A316-3F49-E2E2-DD29-B260E304C9EE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Every baseline instruction appears beside its optimized result.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B1BC0-856D-790A-FB47-A3A377B4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2034571"/>
            <a:ext cx="6496957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10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Before and after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steps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36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A25A6ED8-117F-91CA-A4DC-90F9D83323B7}"/>
              </a:ext>
            </a:extLst>
          </p:cNvPr>
          <p:cNvSpPr txBox="1"/>
          <p:nvPr/>
        </p:nvSpPr>
        <p:spPr>
          <a:xfrm>
            <a:off x="548640" y="1816100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Every baseline instruction appears beside its optimized result.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FC93D3-8B63-9325-74EE-CC4B97A62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02" y="2057400"/>
            <a:ext cx="6780655" cy="37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9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Strategy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compare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37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870A1EA4-DA22-E342-DDF7-06C41AFA27DE}"/>
              </a:ext>
            </a:extLst>
          </p:cNvPr>
          <p:cNvSpPr txBox="1"/>
          <p:nvPr/>
        </p:nvSpPr>
        <p:spPr>
          <a:xfrm>
            <a:off x="548640" y="4444999"/>
            <a:ext cx="110744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520"/>
              </a:lnSpc>
            </a:pPr>
            <a:r>
              <a:rPr lang="en-US" sz="2100" dirty="0">
                <a:solidFill>
                  <a:srgbClr val="0B3D2E"/>
                </a:solidFill>
                <a:latin typeface="Calibri" panose="020F0502020204030204" pitchFamily="34" charset="0"/>
              </a:rPr>
              <a:t>DAG removes 3 of 30 TAC instructions (10.0%). Binary operations fall from 13 to 6. Lightweight rewrites reduce arithmetic even when the instruction count stays at 30.</a:t>
            </a:r>
            <a:endParaRPr lang="en-IN" sz="2100" dirty="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EF04F-DCCC-21BA-3475-1D6F13061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637" y="1715759"/>
            <a:ext cx="6312725" cy="261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72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TAC across all strategies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compare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38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722CE60B-DD66-3A74-B2AE-305C43439725}"/>
              </a:ext>
            </a:extLst>
          </p:cNvPr>
          <p:cNvSpPr txBox="1"/>
          <p:nvPr/>
        </p:nvSpPr>
        <p:spPr>
          <a:xfrm>
            <a:off x="5486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BASELINE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DD5B9F04-DE2F-BE21-09E9-A4C2F62876F5}"/>
              </a:ext>
            </a:extLst>
          </p:cNvPr>
          <p:cNvSpPr txBox="1"/>
          <p:nvPr/>
        </p:nvSpPr>
        <p:spPr>
          <a:xfrm>
            <a:off x="43078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LIGHTWEIGHT</a:t>
            </a:r>
          </a:p>
        </p:txBody>
      </p:sp>
      <p:sp>
        <p:nvSpPr>
          <p:cNvPr id="15" name="Content 9">
            <a:extLst>
              <a:ext uri="{FF2B5EF4-FFF2-40B4-BE49-F238E27FC236}">
                <a16:creationId xmlns:a16="http://schemas.microsoft.com/office/drawing/2014/main" id="{4505D4F1-03C3-731B-A961-712C6FA9D439}"/>
              </a:ext>
            </a:extLst>
          </p:cNvPr>
          <p:cNvSpPr txBox="1"/>
          <p:nvPr/>
        </p:nvSpPr>
        <p:spPr>
          <a:xfrm>
            <a:off x="80670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DAG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86F410-26D9-B6D2-6F94-D5EA23D9D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828800"/>
            <a:ext cx="3515216" cy="3658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F3527C-BCFE-F9B4-58C2-E9D3DC478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856" y="1846942"/>
            <a:ext cx="3715268" cy="3629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D64011-23CE-9EB9-A629-CA1A2A8DF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929" y="1846942"/>
            <a:ext cx="3658111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60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TAC across all strategies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 run.py compare benchmarks/</a:t>
            </a:r>
            <a:r>
              <a:rPr lang="en-US" sz="14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39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FE589D71-4990-17B3-1DDC-A797EFFE3AE8}"/>
              </a:ext>
            </a:extLst>
          </p:cNvPr>
          <p:cNvSpPr txBox="1"/>
          <p:nvPr/>
        </p:nvSpPr>
        <p:spPr>
          <a:xfrm>
            <a:off x="5486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BASELINE</a:t>
            </a: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2268C23D-A984-F8D3-8081-EF66FC642AB7}"/>
              </a:ext>
            </a:extLst>
          </p:cNvPr>
          <p:cNvSpPr txBox="1"/>
          <p:nvPr/>
        </p:nvSpPr>
        <p:spPr>
          <a:xfrm>
            <a:off x="43078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LIGHTWEIGHT</a:t>
            </a:r>
          </a:p>
        </p:txBody>
      </p:sp>
      <p:sp>
        <p:nvSpPr>
          <p:cNvPr id="15" name="Content 9">
            <a:extLst>
              <a:ext uri="{FF2B5EF4-FFF2-40B4-BE49-F238E27FC236}">
                <a16:creationId xmlns:a16="http://schemas.microsoft.com/office/drawing/2014/main" id="{5E762730-071B-61EB-50D5-321D648ED6B8}"/>
              </a:ext>
            </a:extLst>
          </p:cNvPr>
          <p:cNvSpPr txBox="1"/>
          <p:nvPr/>
        </p:nvSpPr>
        <p:spPr>
          <a:xfrm>
            <a:off x="8067040" y="1879599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800"/>
              </a:lnSpc>
            </a:pPr>
            <a:r>
              <a:rPr lang="en-IN" sz="1500">
                <a:solidFill>
                  <a:srgbClr val="1F7A4D"/>
                </a:solidFill>
                <a:latin typeface="Calibri" panose="020F0502020204030204" pitchFamily="34" charset="0"/>
              </a:rPr>
              <a:t>DAG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5FDCC-91B2-CFB0-0A18-3CBDB9E62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7250"/>
            <a:ext cx="2791215" cy="3458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C20729-EF5A-29FE-C8BC-C84E2A4DA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747" y="2192170"/>
            <a:ext cx="2705478" cy="3477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785F1-6CDE-ACA7-7F87-3CDEC7426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040" y="2247899"/>
            <a:ext cx="3251668" cy="304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05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Selector inputs and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$python run.py green benchmarks/</a:t>
            </a:r>
            <a:r>
              <a:rPr lang="en-US" sz="10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40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BA258B2D-AC9C-27D3-9B79-D2D5BC542C13}"/>
              </a:ext>
            </a:extLst>
          </p:cNvPr>
          <p:cNvSpPr txBox="1"/>
          <p:nvPr/>
        </p:nvSpPr>
        <p:spPr>
          <a:xfrm>
            <a:off x="548640" y="1831392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 dirty="0">
                <a:solidFill>
                  <a:srgbClr val="5F7A6B"/>
                </a:solidFill>
                <a:latin typeface="Calibri" panose="020F0502020204030204" pitchFamily="34" charset="0"/>
              </a:rPr>
              <a:t>Energy and CO2e use proxy estimates. The fitted runtime model has poor documented holdout accuracy.</a:t>
            </a:r>
            <a:endParaRPr lang="en-IN" sz="1250" dirty="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150D-E7FB-DEAC-E499-AF2686237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594" y="2072692"/>
            <a:ext cx="6722811" cy="449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34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Carbon-aware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green benchmarks/</a:t>
            </a:r>
            <a:r>
              <a:rPr lang="en-US" sz="10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41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0E3079B7-C5F9-9C3B-B34F-79C9732FD1C4}"/>
              </a:ext>
            </a:extLst>
          </p:cNvPr>
          <p:cNvSpPr txBox="1"/>
          <p:nvPr/>
        </p:nvSpPr>
        <p:spPr>
          <a:xfrm>
            <a:off x="548640" y="4203699"/>
            <a:ext cx="110744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880"/>
              </a:lnSpc>
            </a:pPr>
            <a:r>
              <a:rPr lang="en-IN" sz="2400">
                <a:solidFill>
                  <a:srgbClr val="0B3D2E"/>
                </a:solidFill>
                <a:latin typeface="Calibri" panose="020F0502020204030204" pitchFamily="34" charset="0"/>
              </a:rPr>
              <a:t>Selected strategy: dag</a:t>
            </a:r>
          </a:p>
        </p:txBody>
      </p:sp>
      <p:sp>
        <p:nvSpPr>
          <p:cNvPr id="12" name="Content 6">
            <a:extLst>
              <a:ext uri="{FF2B5EF4-FFF2-40B4-BE49-F238E27FC236}">
                <a16:creationId xmlns:a16="http://schemas.microsoft.com/office/drawing/2014/main" id="{2CEE3350-B43D-C6EA-FAB5-4C905BB95F39}"/>
              </a:ext>
            </a:extLst>
          </p:cNvPr>
          <p:cNvSpPr txBox="1"/>
          <p:nvPr/>
        </p:nvSpPr>
        <p:spPr>
          <a:xfrm>
            <a:off x="548640" y="4787899"/>
            <a:ext cx="110744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280"/>
              </a:lnSpc>
            </a:pPr>
            <a:r>
              <a:rPr lang="en-US" sz="1900">
                <a:solidFill>
                  <a:srgbClr val="0B3D2E"/>
                </a:solidFill>
                <a:latin typeface="Calibri" panose="020F0502020204030204" pitchFamily="34" charset="0"/>
              </a:rPr>
              <a:t>DAG wins in this scenario because its lower runtime-energy proxy offsets its higher compile-energy proxy over 10,000 executions.</a:t>
            </a:r>
            <a:endParaRPr lang="en-IN" sz="190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ontent 7">
            <a:extLst>
              <a:ext uri="{FF2B5EF4-FFF2-40B4-BE49-F238E27FC236}">
                <a16:creationId xmlns:a16="http://schemas.microsoft.com/office/drawing/2014/main" id="{23F1C2D5-9388-8C87-2DF7-BD8D8B533820}"/>
              </a:ext>
            </a:extLst>
          </p:cNvPr>
          <p:cNvSpPr txBox="1"/>
          <p:nvPr/>
        </p:nvSpPr>
        <p:spPr>
          <a:xfrm>
            <a:off x="548640" y="5778499"/>
            <a:ext cx="11074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680"/>
              </a:lnSpc>
            </a:pPr>
            <a:r>
              <a:rPr lang="en-US" sz="1400">
                <a:solidFill>
                  <a:srgbClr val="5F7A6B"/>
                </a:solidFill>
                <a:latin typeface="Calibri" panose="020F0502020204030204" pitchFamily="34" charset="0"/>
              </a:rPr>
              <a:t>PROXY energy and CO2e estimates. These values do not establish measured energy savings or a reliable runtime guarantee.</a:t>
            </a:r>
            <a:endParaRPr lang="en-IN" sz="140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Editable evidence table">
            <a:extLst>
              <a:ext uri="{FF2B5EF4-FFF2-40B4-BE49-F238E27FC236}">
                <a16:creationId xmlns:a16="http://schemas.microsoft.com/office/drawing/2014/main" id="{CF1C76F7-33AB-85C9-C807-D28C586CA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569535"/>
              </p:ext>
            </p:extLst>
          </p:nvPr>
        </p:nvGraphicFramePr>
        <p:xfrm>
          <a:off x="548640" y="2159000"/>
          <a:ext cx="110744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>
                  <a:extLst>
                    <a:ext uri="{9D8B030D-6E8A-4147-A177-3AD203B41FA5}">
                      <a16:colId xmlns:a16="http://schemas.microsoft.com/office/drawing/2014/main" val="3476489876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2886241974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3802441926"/>
                    </a:ext>
                  </a:extLst>
                </a:gridCol>
                <a:gridCol w="2104136">
                  <a:extLst>
                    <a:ext uri="{9D8B030D-6E8A-4147-A177-3AD203B41FA5}">
                      <a16:colId xmlns:a16="http://schemas.microsoft.com/office/drawing/2014/main" val="1413196903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68291466"/>
                    </a:ext>
                  </a:extLst>
                </a:gridCol>
                <a:gridCol w="1439672">
                  <a:extLst>
                    <a:ext uri="{9D8B030D-6E8A-4147-A177-3AD203B41FA5}">
                      <a16:colId xmlns:a16="http://schemas.microsoft.com/office/drawing/2014/main" val="3125884018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Strategy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Compile J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Runtime J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Runtime ms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CO2e (g)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Allowed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78451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baseline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16.150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57.400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0.000016660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31.892029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0557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lightweight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21.450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51.000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0.000016634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28.337504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37002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dag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28.550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42.300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0.000017206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23.505551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4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95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260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Selected final TAC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98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green benchmarks/</a:t>
            </a:r>
            <a:r>
              <a:rPr lang="en-US" sz="1000" dirty="0" err="1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optimization_showcase.c</a:t>
            </a:r>
            <a:r>
              <a:rPr lang="en-US" sz="1000" dirty="0">
                <a:solidFill>
                  <a:srgbClr val="7BD3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--compile-ci 700 --runtime-ci 200 --executions 10000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42</a:t>
            </a:r>
            <a:endParaRPr lang="en-US"/>
          </a:p>
        </p:txBody>
      </p:sp>
      <p:sp>
        <p:nvSpPr>
          <p:cNvPr id="11" name="Content 5">
            <a:extLst>
              <a:ext uri="{FF2B5EF4-FFF2-40B4-BE49-F238E27FC236}">
                <a16:creationId xmlns:a16="http://schemas.microsoft.com/office/drawing/2014/main" id="{C1945E94-6BD5-9214-2479-F092AF3501C7}"/>
              </a:ext>
            </a:extLst>
          </p:cNvPr>
          <p:cNvSpPr txBox="1"/>
          <p:nvPr/>
        </p:nvSpPr>
        <p:spPr>
          <a:xfrm>
            <a:off x="538480" y="1866899"/>
            <a:ext cx="110744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US" sz="1250">
                <a:solidFill>
                  <a:srgbClr val="5F7A6B"/>
                </a:solidFill>
                <a:latin typeface="Calibri" panose="020F0502020204030204" pitchFamily="34" charset="0"/>
              </a:rPr>
              <a:t>Selected strategy: dag. Complete output follows in column order.</a:t>
            </a:r>
            <a:endParaRPr lang="en-IN" sz="125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5DFDD-4E7A-FE5B-8CB6-BDC4A12D4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06" y="2057400"/>
            <a:ext cx="5620534" cy="3229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72041-F504-C9B2-1EF3-894F85F45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040" y="2108199"/>
            <a:ext cx="3533844" cy="31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51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policies compared on the same corpus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035040" cy="3657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optimization on every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lightweight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pass on every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DAG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DAG/CSE on every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adaptive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Per-program carbon-aware choice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4944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reported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1031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time and energy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and runtime energy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and CO2e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instruction count, temporaries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count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Runtime-overhead constraint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prediction error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43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Results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TAC output from both examples. Energy and CO2e remain proxy estimates.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44</a:t>
            </a:r>
            <a:endParaRPr lang="en-US"/>
          </a:p>
        </p:txBody>
      </p:sp>
      <p:graphicFrame>
        <p:nvGraphicFramePr>
          <p:cNvPr id="8" name="Editable evidence table">
            <a:extLst>
              <a:ext uri="{FF2B5EF4-FFF2-40B4-BE49-F238E27FC236}">
                <a16:creationId xmlns:a16="http://schemas.microsoft.com/office/drawing/2014/main" id="{4E2526E7-D8E8-D97A-9194-063F69F4E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859888"/>
              </p:ext>
            </p:extLst>
          </p:nvPr>
        </p:nvGraphicFramePr>
        <p:xfrm>
          <a:off x="548640" y="2095500"/>
          <a:ext cx="11074400" cy="1841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344">
                  <a:extLst>
                    <a:ext uri="{9D8B030D-6E8A-4147-A177-3AD203B41FA5}">
                      <a16:colId xmlns:a16="http://schemas.microsoft.com/office/drawing/2014/main" val="1008102242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1950024684"/>
                    </a:ext>
                  </a:extLst>
                </a:gridCol>
                <a:gridCol w="1771904">
                  <a:extLst>
                    <a:ext uri="{9D8B030D-6E8A-4147-A177-3AD203B41FA5}">
                      <a16:colId xmlns:a16="http://schemas.microsoft.com/office/drawing/2014/main" val="926418775"/>
                    </a:ext>
                  </a:extLst>
                </a:gridCol>
                <a:gridCol w="2436368">
                  <a:extLst>
                    <a:ext uri="{9D8B030D-6E8A-4147-A177-3AD203B41FA5}">
                      <a16:colId xmlns:a16="http://schemas.microsoft.com/office/drawing/2014/main" val="944323151"/>
                    </a:ext>
                  </a:extLst>
                </a:gridCol>
                <a:gridCol w="2214880">
                  <a:extLst>
                    <a:ext uri="{9D8B030D-6E8A-4147-A177-3AD203B41FA5}">
                      <a16:colId xmlns:a16="http://schemas.microsoft.com/office/drawing/2014/main" val="359953606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Example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Baseline TAC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DAG TAC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Instructions removed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Binary operations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7360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Boolean if/else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 to 2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21768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Optimization + while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3 (10.0%)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1500" b="0">
                          <a:solidFill>
                            <a:srgbClr val="0B3D2E"/>
                          </a:solidFill>
                          <a:latin typeface="Calibri" panose="020F0502020204030204" pitchFamily="34" charset="0"/>
                        </a:rPr>
                        <a:t>13 to 6</a:t>
                      </a:r>
                    </a:p>
                  </a:txBody>
                  <a:tcPr marL="101600" marR="63500" marT="50800" marB="5080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881513"/>
                  </a:ext>
                </a:extLst>
              </a:tr>
            </a:tbl>
          </a:graphicData>
        </a:graphic>
      </p:graphicFrame>
      <p:sp>
        <p:nvSpPr>
          <p:cNvPr id="9" name="Content 9">
            <a:extLst>
              <a:ext uri="{FF2B5EF4-FFF2-40B4-BE49-F238E27FC236}">
                <a16:creationId xmlns:a16="http://schemas.microsoft.com/office/drawing/2014/main" id="{87F18191-6178-D756-EE86-AF8648D795F6}"/>
              </a:ext>
            </a:extLst>
          </p:cNvPr>
          <p:cNvSpPr txBox="1"/>
          <p:nvPr/>
        </p:nvSpPr>
        <p:spPr>
          <a:xfrm>
            <a:off x="548640" y="4381499"/>
            <a:ext cx="11074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2500"/>
              </a:lnSpc>
            </a:pPr>
            <a:r>
              <a:rPr lang="en-US" sz="2100">
                <a:solidFill>
                  <a:srgbClr val="0B3D2E"/>
                </a:solidFill>
                <a:latin typeface="Calibri" panose="020F0502020204030204" pitchFamily="34" charset="0"/>
              </a:rPr>
              <a:t>The Boolean example demonstrates correct short-circuit branches. The second example shows constant folding, algebraic simplification, copy propagation and local CSE while preserving the loop.</a:t>
            </a:r>
            <a:endParaRPr lang="en-IN" sz="2100">
              <a:solidFill>
                <a:srgbClr val="0B3D2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ontent 10">
            <a:extLst>
              <a:ext uri="{FF2B5EF4-FFF2-40B4-BE49-F238E27FC236}">
                <a16:creationId xmlns:a16="http://schemas.microsoft.com/office/drawing/2014/main" id="{4930689B-6FE6-C209-F1AE-E83A4B0C0E85}"/>
              </a:ext>
            </a:extLst>
          </p:cNvPr>
          <p:cNvSpPr txBox="1"/>
          <p:nvPr/>
        </p:nvSpPr>
        <p:spPr>
          <a:xfrm>
            <a:off x="548640" y="5778499"/>
            <a:ext cx="110744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1700"/>
              </a:lnSpc>
            </a:pPr>
            <a:r>
              <a:rPr lang="en-US" sz="1400">
                <a:solidFill>
                  <a:srgbClr val="5F7A6B"/>
                </a:solidFill>
                <a:latin typeface="Calibri" panose="020F0502020204030204" pitchFamily="34" charset="0"/>
              </a:rPr>
              <a:t>Instruction reductions describe static TAC. They do not by themselves establish measured runtime, energy or carbon savings.</a:t>
            </a:r>
            <a:endParaRPr lang="en-IN" sz="1400">
              <a:solidFill>
                <a:srgbClr val="5F7A6B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D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has a carbon cost at compile time and a payoff at runtime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compile and runtime carbon intensities make the choice meaningful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selector picks the strategy per program and workload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D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model on larger real RAPL datasets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hourly grid carbon intensity data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global data-flow optimization and more target back ends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A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b="0"/>
              <a:t>45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github.com/Lakshyajeet3103/Green-TAC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15309</Words>
  <Application>Microsoft Office PowerPoint</Application>
  <PresentationFormat>Widescreen</PresentationFormat>
  <Paragraphs>707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TAC - Final Presentation</dc:title>
  <dc:subject>PptxGenJS Presentation</dc:subject>
  <dc:creator>PptxGenJS</dc:creator>
  <cp:lastModifiedBy>Lakshyajeet Narsinghani</cp:lastModifiedBy>
  <cp:revision>5</cp:revision>
  <dcterms:created xsi:type="dcterms:W3CDTF">2026-10-22T09:17:36Z</dcterms:created>
  <dcterms:modified xsi:type="dcterms:W3CDTF">2026-10-25T14:11:24Z</dcterms:modified>
</cp:coreProperties>
</file>